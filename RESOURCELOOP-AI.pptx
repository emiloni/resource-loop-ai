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Red Hat Text Bold"/>
      <p:regular r:id="rId201314"/>
    </p:embeddedFont>
    <p:embeddedFont>
      <p:font typeface="Red Hat Text Light"/>
      <p:regular r:id="rId201315"/>
    </p:embeddedFont>
    <p:embeddedFont>
      <p:font typeface="Red Hat Text"/>
      <p:regular r:id="rId201316"/>
    </p:embeddedFont>
    <p:embeddedFont>
      <p:font typeface="Roboto Light"/>
      <p:regular r:id="rId201317"/>
    </p:embeddedFont>
    <p:embeddedFont>
      <p:font typeface="Roboto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3-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3.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5-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6-2.jpe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AFA"/>
          </a:solidFill>
          <a:ln/>
        </p:spPr>
      </p:sp>
      <p:pic>
        <p:nvPicPr>
          <p:cNvPr id="4"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FFFAFA">
              <a:alpha val="85000"/>
            </a:srgbClr>
          </a:solidFill>
          <a:ln/>
        </p:spPr>
      </p:sp>
      <p:pic>
        <p:nvPicPr>
          <p:cNvPr id="6"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AFA"/>
          </a:solidFill>
          <a:ln/>
        </p:spPr>
      </p:sp>
      <p:pic>
        <p:nvPicPr>
          <p:cNvPr id="4"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FFFAFA">
              <a:alpha val="85000"/>
            </a:srgbClr>
          </a:solidFill>
          <a:ln/>
        </p:spPr>
      </p:sp>
      <p:pic>
        <p:nvPicPr>
          <p:cNvPr id="6"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AFA"/>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AFA"/>
          </a:solidFill>
          <a:ln/>
        </p:spPr>
      </p:sp>
      <p:pic>
        <p:nvPicPr>
          <p:cNvPr id="4"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FFFAFA">
              <a:alpha val="85000"/>
            </a:srgbClr>
          </a:solidFill>
          <a:ln/>
        </p:spPr>
      </p:sp>
      <p:pic>
        <p:nvPicPr>
          <p:cNvPr id="6"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AFA"/>
          </a:solidFill>
          <a:ln/>
        </p:spPr>
      </p:sp>
      <p:pic>
        <p:nvPicPr>
          <p:cNvPr id="4"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FFFAFA">
              <a:alpha val="85000"/>
            </a:srgbClr>
          </a:solidFill>
          <a:ln/>
        </p:spPr>
      </p:sp>
      <p:pic>
        <p:nvPicPr>
          <p:cNvPr id="6"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5.png"/><Relationship Id="rId8" Type="http://schemas.openxmlformats.org/officeDocument/2006/relationships/image" Target="../media/image-3-6.svg"/><Relationship Id="rId9" Type="http://schemas.openxmlformats.org/officeDocument/2006/relationships/image" Target="../media/image-3-9.pn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7.png"/><Relationship Id="rId10" Type="http://schemas.openxmlformats.org/officeDocument/2006/relationships/image" Target="../media/image-4-8.svg"/><Relationship Id="rId11" Type="http://schemas.openxmlformats.org/officeDocument/2006/relationships/slideLayout" Target="../slideLayouts/slideLayout4.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4.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8-2.jpe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image" Target="../media/image-9-4.jpeg"/><Relationship Id="rId5" Type="http://schemas.openxmlformats.org/officeDocument/2006/relationships/image" Target="../media/image-9-4.jpe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4.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98086" y="2093218"/>
            <a:ext cx="10795524" cy="586680"/>
          </a:xfrm>
          <a:prstGeom prst="rect">
            <a:avLst/>
          </a:prstGeom>
          <a:noFill/>
          <a:ln/>
        </p:spPr>
        <p:txBody>
          <a:bodyPr wrap="none" lIns="0" tIns="0" rIns="0" bIns="0" rtlCol="0" anchor="t"/>
          <a:lstStyle/>
          <a:p>
            <a:pPr algn="ctr" indent="0" marL="0">
              <a:lnSpc>
                <a:spcPct val="104000"/>
              </a:lnSpc>
              <a:buNone/>
            </a:pPr>
            <a:r>
              <a:rPr lang="en-US" sz="3650" b="1" dirty="0">
                <a:solidFill>
                  <a:srgbClr val="1F1E1E"/>
                </a:solidFill>
                <a:latin typeface="Red Hat Text Bold" pitchFamily="34" charset="0"/>
                <a:ea typeface="Red Hat Text Bold" pitchFamily="34" charset="-122"/>
                <a:cs typeface="Red Hat Text Bold" pitchFamily="34" charset="-120"/>
              </a:rPr>
              <a:t>RESOURCELOOP AI</a:t>
            </a:r>
            <a:endParaRPr lang="en-US" sz="3650" dirty="0"/>
          </a:p>
        </p:txBody>
      </p:sp>
      <p:sp>
        <p:nvSpPr>
          <p:cNvPr id="3" name="Text 1"/>
          <p:cNvSpPr/>
          <p:nvPr/>
        </p:nvSpPr>
        <p:spPr>
          <a:xfrm>
            <a:off x="393293" y="2979043"/>
            <a:ext cx="11405108" cy="398859"/>
          </a:xfrm>
          <a:prstGeom prst="rect">
            <a:avLst/>
          </a:prstGeom>
          <a:noFill/>
          <a:ln/>
        </p:spPr>
        <p:txBody>
          <a:bodyPr wrap="none" lIns="0" tIns="0" rIns="0" bIns="0" rtlCol="0" anchor="t"/>
          <a:lstStyle/>
          <a:p>
            <a:pPr algn="ctr" indent="0" marL="0">
              <a:lnSpc>
                <a:spcPct val="133000"/>
              </a:lnSpc>
              <a:buNone/>
            </a:pPr>
            <a:r>
              <a:rPr lang="en-US" sz="1950" dirty="0">
                <a:solidFill>
                  <a:srgbClr val="3B3535"/>
                </a:solidFill>
                <a:latin typeface="Roboto Light" pitchFamily="34" charset="0"/>
                <a:ea typeface="Roboto Light" pitchFamily="34" charset="-122"/>
                <a:cs typeface="Roboto Light" pitchFamily="34" charset="-120"/>
              </a:rPr>
              <a:t>AI-Powered Circular Resource Matching &amp; Policy Intelligence</a:t>
            </a:r>
            <a:endParaRPr lang="en-US" sz="1950" dirty="0"/>
          </a:p>
        </p:txBody>
      </p:sp>
      <p:sp>
        <p:nvSpPr>
          <p:cNvPr id="4" name="Text 2"/>
          <p:cNvSpPr/>
          <p:nvPr/>
        </p:nvSpPr>
        <p:spPr>
          <a:xfrm>
            <a:off x="698086" y="3677047"/>
            <a:ext cx="10795524" cy="469404"/>
          </a:xfrm>
          <a:prstGeom prst="rect">
            <a:avLst/>
          </a:prstGeom>
          <a:noFill/>
          <a:ln/>
        </p:spPr>
        <p:txBody>
          <a:bodyPr wrap="none" lIns="0" tIns="0" rIns="0" bIns="0" rtlCol="0" anchor="t"/>
          <a:lstStyle/>
          <a:p>
            <a:pPr algn="ctr" indent="0" marL="0">
              <a:lnSpc>
                <a:spcPct val="104000"/>
              </a:lnSpc>
              <a:buNone/>
            </a:pPr>
            <a:r>
              <a:rPr lang="en-US" sz="2950" b="1" dirty="0">
                <a:solidFill>
                  <a:srgbClr val="1F1E1E"/>
                </a:solidFill>
                <a:latin typeface="Red Hat Text Bold" pitchFamily="34" charset="0"/>
                <a:ea typeface="Red Hat Text Bold" pitchFamily="34" charset="-122"/>
                <a:cs typeface="Red Hat Text Bold" pitchFamily="34" charset="-120"/>
              </a:rPr>
              <a:t>Miloni Mohanty</a:t>
            </a:r>
            <a:endParaRPr lang="en-US" sz="2950" dirty="0"/>
          </a:p>
        </p:txBody>
      </p:sp>
      <p:sp>
        <p:nvSpPr>
          <p:cNvPr id="5" name="Text 3"/>
          <p:cNvSpPr/>
          <p:nvPr/>
        </p:nvSpPr>
        <p:spPr>
          <a:xfrm>
            <a:off x="393293" y="4445595"/>
            <a:ext cx="11405108" cy="319187"/>
          </a:xfrm>
          <a:prstGeom prst="rect">
            <a:avLst/>
          </a:prstGeom>
          <a:noFill/>
          <a:ln/>
        </p:spPr>
        <p:txBody>
          <a:bodyPr wrap="none" lIns="0" tIns="0" rIns="0" bIns="0" rtlCol="0" anchor="t"/>
          <a:lstStyle/>
          <a:p>
            <a:pPr algn="ctr" indent="0" marL="0">
              <a:lnSpc>
                <a:spcPct val="133000"/>
              </a:lnSpc>
              <a:buNone/>
            </a:pPr>
            <a:r>
              <a:rPr lang="en-US" sz="1550" dirty="0">
                <a:solidFill>
                  <a:srgbClr val="3B3535"/>
                </a:solidFill>
                <a:latin typeface="Roboto Light" pitchFamily="34" charset="0"/>
                <a:ea typeface="Roboto Light" pitchFamily="34" charset="-122"/>
                <a:cs typeface="Roboto Light" pitchFamily="34" charset="-120"/>
              </a:rPr>
              <a:t>B.Tech CSE | ITER, Bhubaneswar</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8086" y="585391"/>
            <a:ext cx="10795524" cy="498673"/>
          </a:xfrm>
          <a:prstGeom prst="rect">
            <a:avLst/>
          </a:prstGeom>
          <a:noFill/>
          <a:ln/>
        </p:spPr>
        <p:txBody>
          <a:bodyPr wrap="none" lIns="0" tIns="0" rIns="0" bIns="0" rtlCol="0" anchor="t"/>
          <a:lstStyle/>
          <a:p>
            <a:pPr algn="l" indent="0" marL="0">
              <a:lnSpc>
                <a:spcPct val="104000"/>
              </a:lnSpc>
              <a:buNone/>
            </a:pPr>
            <a:r>
              <a:rPr lang="en-US" sz="3100" dirty="0">
                <a:solidFill>
                  <a:srgbClr val="1F1E1E"/>
                </a:solidFill>
                <a:latin typeface="Red Hat Text" pitchFamily="34" charset="0"/>
                <a:ea typeface="Red Hat Text" pitchFamily="34" charset="-122"/>
                <a:cs typeface="Red Hat Text" pitchFamily="34" charset="-120"/>
              </a:rPr>
              <a:t>The problem: resources exist, but visibility doesn’t</a:t>
            </a:r>
            <a:endParaRPr lang="en-US" sz="3100" dirty="0"/>
          </a:p>
        </p:txBody>
      </p:sp>
      <p:sp>
        <p:nvSpPr>
          <p:cNvPr id="3" name="Text 1"/>
          <p:cNvSpPr/>
          <p:nvPr/>
        </p:nvSpPr>
        <p:spPr>
          <a:xfrm>
            <a:off x="1249034" y="1300163"/>
            <a:ext cx="2012800" cy="498673"/>
          </a:xfrm>
          <a:prstGeom prst="rect">
            <a:avLst/>
          </a:prstGeom>
          <a:noFill/>
          <a:ln/>
        </p:spPr>
        <p:txBody>
          <a:bodyPr wrap="square" lIns="0" tIns="0" rIns="0" bIns="0" rtlCol="0" anchor="t">
            <a:normAutofit/>
          </a:bodyPr>
          <a:lstStyle/>
          <a:p>
            <a:pPr algn="l" indent="0" marL="0">
              <a:lnSpc>
                <a:spcPct val="104000"/>
              </a:lnSpc>
              <a:buNone/>
            </a:pPr>
            <a:r>
              <a:rPr lang="en-US" sz="1550" dirty="0">
                <a:solidFill>
                  <a:srgbClr val="3B3535"/>
                </a:solidFill>
                <a:latin typeface="Red Hat Text" pitchFamily="34" charset="0"/>
                <a:ea typeface="Red Hat Text" pitchFamily="34" charset="-122"/>
                <a:cs typeface="Red Hat Text" pitchFamily="34" charset="-120"/>
              </a:rPr>
              <a:t>01 — FRAGMENTED INVENTORY</a:t>
            </a:r>
            <a:endParaRPr lang="en-US" sz="1550" dirty="0"/>
          </a:p>
        </p:txBody>
      </p:sp>
      <p:sp>
        <p:nvSpPr>
          <p:cNvPr id="4" name="Text 2"/>
          <p:cNvSpPr/>
          <p:nvPr/>
        </p:nvSpPr>
        <p:spPr>
          <a:xfrm>
            <a:off x="1249034" y="1885255"/>
            <a:ext cx="2012800" cy="1505545"/>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Assets are scattered across Excel/CSV, registers, storage rooms, logs, PDFs and images. No unified layer connects them.</a:t>
            </a:r>
            <a:endParaRPr lang="en-US" sz="1300" dirty="0"/>
          </a:p>
        </p:txBody>
      </p:sp>
      <p:sp>
        <p:nvSpPr>
          <p:cNvPr id="5" name="Text 3"/>
          <p:cNvSpPr/>
          <p:nvPr/>
        </p:nvSpPr>
        <p:spPr>
          <a:xfrm>
            <a:off x="3992859" y="1300163"/>
            <a:ext cx="2012900" cy="498673"/>
          </a:xfrm>
          <a:prstGeom prst="rect">
            <a:avLst/>
          </a:prstGeom>
          <a:noFill/>
          <a:ln/>
        </p:spPr>
        <p:txBody>
          <a:bodyPr wrap="square" lIns="0" tIns="0" rIns="0" bIns="0" rtlCol="0" anchor="t">
            <a:normAutofit/>
          </a:bodyPr>
          <a:lstStyle/>
          <a:p>
            <a:pPr algn="l" indent="0" marL="0">
              <a:lnSpc>
                <a:spcPct val="104000"/>
              </a:lnSpc>
              <a:buNone/>
            </a:pPr>
            <a:r>
              <a:rPr lang="en-US" sz="1550" dirty="0">
                <a:solidFill>
                  <a:srgbClr val="3B3535"/>
                </a:solidFill>
                <a:latin typeface="Red Hat Text" pitchFamily="34" charset="0"/>
                <a:ea typeface="Red Hat Text" pitchFamily="34" charset="-122"/>
                <a:cs typeface="Red Hat Text" pitchFamily="34" charset="-120"/>
              </a:rPr>
              <a:t>02 — UNNECESSARY PROCUREMENT</a:t>
            </a:r>
            <a:endParaRPr lang="en-US" sz="1550" dirty="0"/>
          </a:p>
        </p:txBody>
      </p:sp>
      <p:sp>
        <p:nvSpPr>
          <p:cNvPr id="6" name="Text 4"/>
          <p:cNvSpPr/>
          <p:nvPr/>
        </p:nvSpPr>
        <p:spPr>
          <a:xfrm>
            <a:off x="3992859" y="1885255"/>
            <a:ext cx="2012900" cy="1254621"/>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Teams buy new equipment without seeing underutilised assets that could already meet the need.</a:t>
            </a:r>
            <a:endParaRPr lang="en-US" sz="1300" dirty="0"/>
          </a:p>
        </p:txBody>
      </p:sp>
      <p:sp>
        <p:nvSpPr>
          <p:cNvPr id="7" name="Text 5"/>
          <p:cNvSpPr/>
          <p:nvPr/>
        </p:nvSpPr>
        <p:spPr>
          <a:xfrm>
            <a:off x="6736785" y="1300163"/>
            <a:ext cx="2012900" cy="498673"/>
          </a:xfrm>
          <a:prstGeom prst="rect">
            <a:avLst/>
          </a:prstGeom>
          <a:noFill/>
          <a:ln/>
        </p:spPr>
        <p:txBody>
          <a:bodyPr wrap="square" lIns="0" tIns="0" rIns="0" bIns="0" rtlCol="0" anchor="t">
            <a:normAutofit/>
          </a:bodyPr>
          <a:lstStyle/>
          <a:p>
            <a:pPr algn="l" indent="0" marL="0">
              <a:lnSpc>
                <a:spcPct val="104000"/>
              </a:lnSpc>
              <a:buNone/>
            </a:pPr>
            <a:r>
              <a:rPr lang="en-US" sz="1550" dirty="0">
                <a:solidFill>
                  <a:srgbClr val="3B3535"/>
                </a:solidFill>
                <a:latin typeface="Red Hat Text" pitchFamily="34" charset="0"/>
                <a:ea typeface="Red Hat Text" pitchFamily="34" charset="-122"/>
                <a:cs typeface="Red Hat Text" pitchFamily="34" charset="-120"/>
              </a:rPr>
              <a:t>03 — PREMATURE DISPOSAL</a:t>
            </a:r>
            <a:endParaRPr lang="en-US" sz="1550" dirty="0"/>
          </a:p>
        </p:txBody>
      </p:sp>
      <p:sp>
        <p:nvSpPr>
          <p:cNvPr id="8" name="Text 6"/>
          <p:cNvSpPr/>
          <p:nvPr/>
        </p:nvSpPr>
        <p:spPr>
          <a:xfrm>
            <a:off x="6736785" y="1885255"/>
            <a:ext cx="2012900" cy="1003697"/>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Damaged or idle items are discarded before checking repair, reuse, or parts recovery.</a:t>
            </a:r>
            <a:endParaRPr lang="en-US" sz="1300" dirty="0"/>
          </a:p>
        </p:txBody>
      </p:sp>
      <p:sp>
        <p:nvSpPr>
          <p:cNvPr id="9" name="Text 7"/>
          <p:cNvSpPr/>
          <p:nvPr/>
        </p:nvSpPr>
        <p:spPr>
          <a:xfrm>
            <a:off x="9480710" y="1300163"/>
            <a:ext cx="2012900" cy="498673"/>
          </a:xfrm>
          <a:prstGeom prst="rect">
            <a:avLst/>
          </a:prstGeom>
          <a:noFill/>
          <a:ln/>
        </p:spPr>
        <p:txBody>
          <a:bodyPr wrap="square" lIns="0" tIns="0" rIns="0" bIns="0" rtlCol="0" anchor="t">
            <a:normAutofit/>
          </a:bodyPr>
          <a:lstStyle/>
          <a:p>
            <a:pPr algn="l" indent="0" marL="0">
              <a:lnSpc>
                <a:spcPct val="104000"/>
              </a:lnSpc>
              <a:buNone/>
            </a:pPr>
            <a:r>
              <a:rPr lang="en-US" sz="1550" dirty="0">
                <a:solidFill>
                  <a:srgbClr val="3B3535"/>
                </a:solidFill>
                <a:latin typeface="Red Hat Text" pitchFamily="34" charset="0"/>
                <a:ea typeface="Red Hat Text" pitchFamily="34" charset="-122"/>
                <a:cs typeface="Red Hat Text" pitchFamily="34" charset="-120"/>
              </a:rPr>
              <a:t>04 — NO DECISION LAYER</a:t>
            </a:r>
            <a:endParaRPr lang="en-US" sz="1550" dirty="0"/>
          </a:p>
        </p:txBody>
      </p:sp>
      <p:sp>
        <p:nvSpPr>
          <p:cNvPr id="10" name="Text 8"/>
          <p:cNvSpPr/>
          <p:nvPr/>
        </p:nvSpPr>
        <p:spPr>
          <a:xfrm>
            <a:off x="9480710" y="1885255"/>
            <a:ext cx="2012900" cy="1505545"/>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Traditional inventory says what is owned. ResourceLoop says what can solve the request, where it is, and what happens next.</a:t>
            </a:r>
            <a:endParaRPr lang="en-US" sz="1300" dirty="0"/>
          </a:p>
        </p:txBody>
      </p:sp>
      <p:sp>
        <p:nvSpPr>
          <p:cNvPr id="11" name="Shape 9"/>
          <p:cNvSpPr/>
          <p:nvPr/>
        </p:nvSpPr>
        <p:spPr>
          <a:xfrm>
            <a:off x="698086" y="3595291"/>
            <a:ext cx="10795524" cy="19050"/>
          </a:xfrm>
          <a:prstGeom prst="roundRect">
            <a:avLst>
              <a:gd name="adj" fmla="val 49999"/>
            </a:avLst>
          </a:prstGeom>
          <a:solidFill>
            <a:srgbClr val="3B3535">
              <a:alpha val="50000"/>
            </a:srgbClr>
          </a:solidFill>
          <a:ln/>
        </p:spPr>
      </p:sp>
      <p:sp>
        <p:nvSpPr>
          <p:cNvPr id="12" name="Text 10"/>
          <p:cNvSpPr/>
          <p:nvPr/>
        </p:nvSpPr>
        <p:spPr>
          <a:xfrm>
            <a:off x="698086" y="3962896"/>
            <a:ext cx="6087712" cy="249337"/>
          </a:xfrm>
          <a:prstGeom prst="rect">
            <a:avLst/>
          </a:prstGeom>
          <a:noFill/>
          <a:ln/>
        </p:spPr>
        <p:txBody>
          <a:bodyPr wrap="none" lIns="0" tIns="0" rIns="0" bIns="0" rtlCol="0" anchor="t"/>
          <a:lstStyle/>
          <a:p>
            <a:pPr algn="l" indent="0" marL="0">
              <a:lnSpc>
                <a:spcPct val="104000"/>
              </a:lnSpc>
              <a:buNone/>
            </a:pPr>
            <a:r>
              <a:rPr lang="en-US" sz="1550" dirty="0">
                <a:solidFill>
                  <a:srgbClr val="1F1E1E"/>
                </a:solidFill>
                <a:latin typeface="Red Hat Text" pitchFamily="34" charset="0"/>
                <a:ea typeface="Red Hat Text" pitchFamily="34" charset="-122"/>
                <a:cs typeface="Red Hat Text" pitchFamily="34" charset="-120"/>
              </a:rPr>
              <a:t>Real-world scale</a:t>
            </a:r>
            <a:endParaRPr lang="en-US" sz="1550" dirty="0"/>
          </a:p>
        </p:txBody>
      </p:sp>
      <p:sp>
        <p:nvSpPr>
          <p:cNvPr id="13" name="Shape 11"/>
          <p:cNvSpPr/>
          <p:nvPr/>
        </p:nvSpPr>
        <p:spPr>
          <a:xfrm>
            <a:off x="698086" y="4374356"/>
            <a:ext cx="2971825" cy="1736030"/>
          </a:xfrm>
          <a:prstGeom prst="roundRect">
            <a:avLst>
              <a:gd name="adj" fmla="val 1465"/>
            </a:avLst>
          </a:prstGeom>
          <a:solidFill>
            <a:srgbClr val="F3E8E8"/>
          </a:solidFill>
          <a:ln/>
        </p:spPr>
      </p:sp>
      <p:sp>
        <p:nvSpPr>
          <p:cNvPr id="14" name="Text 12"/>
          <p:cNvSpPr/>
          <p:nvPr/>
        </p:nvSpPr>
        <p:spPr>
          <a:xfrm>
            <a:off x="867547" y="4543822"/>
            <a:ext cx="2632902" cy="249337"/>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Red Hat Text" pitchFamily="34" charset="0"/>
                <a:ea typeface="Red Hat Text" pitchFamily="34" charset="-122"/>
                <a:cs typeface="Red Hat Text" pitchFamily="34" charset="-120"/>
              </a:rPr>
              <a:t>30.9B → 106.6B tonnes</a:t>
            </a:r>
            <a:endParaRPr lang="en-US" sz="1550" dirty="0"/>
          </a:p>
        </p:txBody>
      </p:sp>
      <p:sp>
        <p:nvSpPr>
          <p:cNvPr id="15" name="Text 13"/>
          <p:cNvSpPr/>
          <p:nvPr/>
        </p:nvSpPr>
        <p:spPr>
          <a:xfrm>
            <a:off x="867547" y="4937224"/>
            <a:ext cx="2632902" cy="1003697"/>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Global annual material extraction rose from ~30.9 billion tonnes (1970) to 106.6 billion tonnes (2024). </a:t>
            </a:r>
            <a:pPr algn="l" indent="0" marL="0">
              <a:lnSpc>
                <a:spcPct val="123000"/>
              </a:lnSpc>
              <a:buNone/>
            </a:pPr>
            <a:r>
              <a:rPr lang="en-US" sz="1300" b="1" dirty="0">
                <a:solidFill>
                  <a:srgbClr val="3B3535"/>
                </a:solidFill>
                <a:latin typeface="Roboto Bold" pitchFamily="34" charset="0"/>
                <a:ea typeface="Roboto Bold" pitchFamily="34" charset="-122"/>
                <a:cs typeface="Roboto Bold" pitchFamily="34" charset="-120"/>
              </a:rPr>
              <a:t>~3.4× increase</a:t>
            </a:r>
            <a:endParaRPr lang="en-US" sz="1300" dirty="0"/>
          </a:p>
        </p:txBody>
      </p:sp>
      <p:sp>
        <p:nvSpPr>
          <p:cNvPr id="16" name="Shape 14"/>
          <p:cNvSpPr/>
          <p:nvPr/>
        </p:nvSpPr>
        <p:spPr>
          <a:xfrm>
            <a:off x="3813973" y="4374356"/>
            <a:ext cx="2971825" cy="1736030"/>
          </a:xfrm>
          <a:prstGeom prst="roundRect">
            <a:avLst>
              <a:gd name="adj" fmla="val 1465"/>
            </a:avLst>
          </a:prstGeom>
          <a:solidFill>
            <a:srgbClr val="F3E8E8"/>
          </a:solidFill>
          <a:ln/>
        </p:spPr>
      </p:sp>
      <p:sp>
        <p:nvSpPr>
          <p:cNvPr id="17" name="Text 15"/>
          <p:cNvSpPr/>
          <p:nvPr/>
        </p:nvSpPr>
        <p:spPr>
          <a:xfrm>
            <a:off x="3983434" y="4543822"/>
            <a:ext cx="2632902" cy="249337"/>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Red Hat Text" pitchFamily="34" charset="0"/>
                <a:ea typeface="Red Hat Text" pitchFamily="34" charset="-122"/>
                <a:cs typeface="Red Hat Text" pitchFamily="34" charset="-120"/>
              </a:rPr>
              <a:t>62M tonnes e‑waste (2022)</a:t>
            </a:r>
            <a:endParaRPr lang="en-US" sz="1550" dirty="0"/>
          </a:p>
        </p:txBody>
      </p:sp>
      <p:sp>
        <p:nvSpPr>
          <p:cNvPr id="18" name="Text 16"/>
          <p:cNvSpPr/>
          <p:nvPr/>
        </p:nvSpPr>
        <p:spPr>
          <a:xfrm>
            <a:off x="3983434" y="4937224"/>
            <a:ext cx="2632902" cy="1003697"/>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62 million tonnes e‑waste were generated in 2022; </a:t>
            </a:r>
            <a:pPr algn="l" indent="0" marL="0">
              <a:lnSpc>
                <a:spcPct val="123000"/>
              </a:lnSpc>
              <a:buNone/>
            </a:pPr>
            <a:r>
              <a:rPr lang="en-US" sz="1300" b="1" dirty="0">
                <a:solidFill>
                  <a:srgbClr val="3B3535"/>
                </a:solidFill>
                <a:latin typeface="Roboto Bold" pitchFamily="34" charset="0"/>
                <a:ea typeface="Roboto Bold" pitchFamily="34" charset="-122"/>
                <a:cs typeface="Roboto Bold" pitchFamily="34" charset="-120"/>
              </a:rPr>
              <a:t>22.3%</a:t>
            </a:r>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 was formally collected and recycled. Projected: 82M tonnes by 2030.</a:t>
            </a:r>
            <a:endParaRPr lang="en-US" sz="1300" dirty="0"/>
          </a:p>
        </p:txBody>
      </p:sp>
      <p:sp>
        <p:nvSpPr>
          <p:cNvPr id="19" name="Text 17"/>
          <p:cNvSpPr/>
          <p:nvPr/>
        </p:nvSpPr>
        <p:spPr>
          <a:xfrm>
            <a:off x="7205681" y="3948509"/>
            <a:ext cx="4294179" cy="1012130"/>
          </a:xfrm>
          <a:prstGeom prst="rect">
            <a:avLst/>
          </a:prstGeom>
          <a:noFill/>
          <a:ln/>
        </p:spPr>
        <p:txBody>
          <a:bodyPr wrap="square" lIns="0" tIns="0" rIns="0" bIns="0" rtlCol="0" anchor="t"/>
          <a:lstStyle/>
          <a:p>
            <a:pPr algn="l" indent="0" marL="0">
              <a:lnSpc>
                <a:spcPct val="123000"/>
              </a:lnSpc>
              <a:spcAft>
                <a:spcPts val="1000"/>
              </a:spcAft>
              <a:buNone/>
            </a:pPr>
            <a:r>
              <a:rPr lang="en-US" sz="1300" b="1" dirty="0">
                <a:solidFill>
                  <a:srgbClr val="3B3535"/>
                </a:solidFill>
                <a:latin typeface="Roboto Bold" pitchFamily="34" charset="0"/>
                <a:ea typeface="Roboto Bold" pitchFamily="34" charset="-122"/>
                <a:cs typeface="Roboto Bold" pitchFamily="34" charset="-120"/>
              </a:rPr>
              <a:t>Sources</a:t>
            </a:r>
            <a:endParaRPr lang="en-US" sz="1300" dirty="0"/>
          </a:p>
          <a:p>
            <a:pPr algn="l" indent="0" marL="0">
              <a:lnSpc>
                <a:spcPct val="123000"/>
              </a:lnSpc>
              <a:spcAft>
                <a:spcPts val="1000"/>
              </a:spcAft>
              <a:buNone/>
            </a:pPr>
            <a:r>
              <a:rPr lang="en-US" sz="1300" dirty="0">
                <a:solidFill>
                  <a:srgbClr val="3B3535"/>
                </a:solidFill>
                <a:latin typeface="Roboto Light" pitchFamily="34" charset="0"/>
                <a:ea typeface="Roboto Light" pitchFamily="34" charset="-122"/>
                <a:cs typeface="Roboto Light" pitchFamily="34" charset="-120"/>
              </a:rPr>
              <a:t>UNEP — Global Resources Outlook 2024</a:t>
            </a:r>
            <a:endParaRPr lang="en-US" sz="1300" dirty="0"/>
          </a:p>
          <a:p>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ITU / UNITAR — Global E‑waste Monitor 2024</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8086" y="626070"/>
            <a:ext cx="10795524" cy="440035"/>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ed Hat Text" pitchFamily="34" charset="0"/>
                <a:ea typeface="Red Hat Text" pitchFamily="34" charset="-122"/>
                <a:cs typeface="Red Hat Text" pitchFamily="34" charset="-120"/>
              </a:rPr>
              <a:t>The solution: one platform, two decisions</a:t>
            </a:r>
            <a:endParaRPr lang="en-US" sz="2750" dirty="0"/>
          </a:p>
        </p:txBody>
      </p:sp>
      <p:sp>
        <p:nvSpPr>
          <p:cNvPr id="3" name="Text 1"/>
          <p:cNvSpPr/>
          <p:nvPr/>
        </p:nvSpPr>
        <p:spPr>
          <a:xfrm>
            <a:off x="393293" y="1290439"/>
            <a:ext cx="11405108" cy="209451"/>
          </a:xfrm>
          <a:prstGeom prst="rect">
            <a:avLst/>
          </a:prstGeom>
          <a:noFill/>
          <a:ln/>
        </p:spPr>
        <p:txBody>
          <a:bodyPr wrap="none" lIns="0" tIns="0" rIns="0" bIns="0" rtlCol="0" anchor="t"/>
          <a:lstStyle/>
          <a:p>
            <a:pPr algn="ctr" indent="0" marL="0">
              <a:lnSpc>
                <a:spcPct val="117000"/>
              </a:lnSpc>
              <a:buNone/>
            </a:pPr>
            <a:r>
              <a:rPr lang="en-US" sz="1150" dirty="0">
                <a:solidFill>
                  <a:srgbClr val="3B3535"/>
                </a:solidFill>
                <a:latin typeface="Roboto Light" pitchFamily="34" charset="0"/>
                <a:ea typeface="Roboto Light" pitchFamily="34" charset="-122"/>
                <a:cs typeface="Roboto Light" pitchFamily="34" charset="-120"/>
              </a:rPr>
              <a:t>ResourceLoop AI connects discovery with end‑of‑life decisions — a single pane for “I need” and “I no longer need”.</a:t>
            </a:r>
            <a:endParaRPr lang="en-US" sz="1150" dirty="0"/>
          </a:p>
        </p:txBody>
      </p:sp>
      <p:sp>
        <p:nvSpPr>
          <p:cNvPr id="4" name="Text 2"/>
          <p:cNvSpPr/>
          <p:nvPr/>
        </p:nvSpPr>
        <p:spPr>
          <a:xfrm>
            <a:off x="698086" y="1738213"/>
            <a:ext cx="4992067" cy="219968"/>
          </a:xfrm>
          <a:prstGeom prst="rect">
            <a:avLst/>
          </a:prstGeom>
          <a:noFill/>
          <a:ln/>
        </p:spPr>
        <p:txBody>
          <a:bodyPr wrap="none" lIns="0" tIns="0" rIns="0" bIns="0" rtlCol="0" anchor="t"/>
          <a:lstStyle/>
          <a:p>
            <a:pPr algn="ctr" indent="0" marL="0">
              <a:lnSpc>
                <a:spcPct val="104000"/>
              </a:lnSpc>
              <a:buNone/>
            </a:pPr>
            <a:r>
              <a:rPr lang="en-US" sz="1350" dirty="0">
                <a:solidFill>
                  <a:srgbClr val="1F1E1E"/>
                </a:solidFill>
                <a:latin typeface="Red Hat Text" pitchFamily="34" charset="0"/>
                <a:ea typeface="Red Hat Text" pitchFamily="34" charset="-122"/>
                <a:cs typeface="Red Hat Text" pitchFamily="34" charset="-120"/>
              </a:rPr>
              <a:t>SIDE A — “I NEED A RESOURCE”</a:t>
            </a:r>
            <a:endParaRPr lang="en-US" sz="13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2084388"/>
            <a:ext cx="2439926" cy="3062387"/>
          </a:xfrm>
          <a:prstGeom prst="rect">
            <a:avLst/>
          </a:prstGeom>
        </p:spPr>
      </p:pic>
      <p:sp>
        <p:nvSpPr>
          <p:cNvPr id="6" name="Text 3"/>
          <p:cNvSpPr/>
          <p:nvPr/>
        </p:nvSpPr>
        <p:spPr>
          <a:xfrm>
            <a:off x="1828308" y="2196604"/>
            <a:ext cx="179482" cy="224334"/>
          </a:xfrm>
          <a:prstGeom prst="rect">
            <a:avLst/>
          </a:prstGeom>
          <a:noFill/>
          <a:ln/>
        </p:spPr>
        <p:txBody>
          <a:bodyPr wrap="none" lIns="0" tIns="0" rIns="0" bIns="0" rtlCol="0" anchor="ctr"/>
          <a:lstStyle/>
          <a:p>
            <a:pPr algn="ctr" indent="0" marL="0">
              <a:lnSpc>
                <a:spcPct val="100000"/>
              </a:lnSpc>
              <a:buNone/>
            </a:pPr>
            <a:r>
              <a:rPr lang="en-US" sz="1400" dirty="0">
                <a:solidFill>
                  <a:srgbClr val="000000"/>
                </a:solidFill>
                <a:latin typeface="Red Hat Text" pitchFamily="34" charset="0"/>
                <a:ea typeface="Red Hat Text" pitchFamily="34" charset="-122"/>
                <a:cs typeface="Red Hat Text" pitchFamily="34" charset="-120"/>
              </a:rPr>
              <a:t>1</a:t>
            </a:r>
            <a:endParaRPr lang="en-US" sz="1400" dirty="0"/>
          </a:p>
        </p:txBody>
      </p:sp>
      <p:sp>
        <p:nvSpPr>
          <p:cNvPr id="7" name="Text 4"/>
          <p:cNvSpPr/>
          <p:nvPr/>
        </p:nvSpPr>
        <p:spPr>
          <a:xfrm>
            <a:off x="866654" y="2682677"/>
            <a:ext cx="2102790" cy="219968"/>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ed Hat Text" pitchFamily="34" charset="0"/>
                <a:ea typeface="Red Hat Text" pitchFamily="34" charset="-122"/>
                <a:cs typeface="Red Hat Text" pitchFamily="34" charset="-120"/>
              </a:rPr>
              <a:t>RESOURCE MATCH</a:t>
            </a:r>
            <a:endParaRPr lang="en-US" sz="1350" dirty="0"/>
          </a:p>
        </p:txBody>
      </p:sp>
      <p:sp>
        <p:nvSpPr>
          <p:cNvPr id="8" name="Text 5"/>
          <p:cNvSpPr/>
          <p:nvPr/>
        </p:nvSpPr>
        <p:spPr>
          <a:xfrm>
            <a:off x="866654" y="3014762"/>
            <a:ext cx="2102790" cy="1963440"/>
          </a:xfrm>
          <a:prstGeom prst="rect">
            <a:avLst/>
          </a:prstGeom>
          <a:noFill/>
          <a:ln/>
        </p:spPr>
        <p:txBody>
          <a:bodyPr wrap="square" lIns="0" tIns="0" rIns="0" bIns="0" rtlCol="0" anchor="t">
            <a:normAutofit/>
          </a:bodyPr>
          <a:lstStyle/>
          <a:p>
            <a:pPr algn="l" marL="233680" indent="-233680">
              <a:lnSpc>
                <a:spcPct val="117000"/>
              </a:lnSpc>
              <a:buSzPct val="100000"/>
              <a:buChar char="•"/>
            </a:pPr>
            <a:r>
              <a:rPr lang="en-US" sz="1150" dirty="0">
                <a:solidFill>
                  <a:srgbClr val="3B3535"/>
                </a:solidFill>
                <a:latin typeface="Roboto Light" pitchFamily="34" charset="0"/>
                <a:ea typeface="Roboto Light" pitchFamily="34" charset="-122"/>
                <a:cs typeface="Roboto Light" pitchFamily="34" charset="-120"/>
              </a:rPr>
              <a:t>Natural‑language requirement → AI requirement extraction</a:t>
            </a:r>
            <a:endParaRPr lang="en-US" sz="1150" dirty="0"/>
          </a:p>
          <a:p>
            <a:pPr algn="l" marL="233680" indent="-233680">
              <a:lnSpc>
                <a:spcPct val="117000"/>
              </a:lnSpc>
              <a:buSzPct val="100000"/>
              <a:buChar char="•"/>
            </a:pPr>
            <a:r>
              <a:rPr lang="en-US" sz="1150" dirty="0">
                <a:solidFill>
                  <a:srgbClr val="3B3535"/>
                </a:solidFill>
                <a:latin typeface="Roboto Light" pitchFamily="34" charset="0"/>
                <a:ea typeface="Roboto Light" pitchFamily="34" charset="-122"/>
                <a:cs typeface="Roboto Light" pitchFamily="34" charset="-120"/>
              </a:rPr>
              <a:t>Inventory search → Technical compatibility checks</a:t>
            </a:r>
            <a:endParaRPr lang="en-US" sz="1150" dirty="0"/>
          </a:p>
          <a:p>
            <a:pPr algn="l" marL="233680" indent="-233680">
              <a:lnSpc>
                <a:spcPct val="117000"/>
              </a:lnSpc>
              <a:buSzPct val="100000"/>
              <a:buChar char="•"/>
            </a:pPr>
            <a:r>
              <a:rPr lang="en-US" sz="1150" dirty="0">
                <a:solidFill>
                  <a:srgbClr val="3B3535"/>
                </a:solidFill>
                <a:latin typeface="Roboto Light" pitchFamily="34" charset="0"/>
                <a:ea typeface="Roboto Light" pitchFamily="34" charset="-122"/>
                <a:cs typeface="Roboto Light" pitchFamily="34" charset="-120"/>
              </a:rPr>
              <a:t>Contextual ranking → Recommended existing resources</a:t>
            </a:r>
            <a:endParaRPr lang="en-US" sz="11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50127" y="2084388"/>
            <a:ext cx="2440026" cy="3062387"/>
          </a:xfrm>
          <a:prstGeom prst="rect">
            <a:avLst/>
          </a:prstGeom>
        </p:spPr>
      </p:pic>
      <p:sp>
        <p:nvSpPr>
          <p:cNvPr id="10" name="Text 6"/>
          <p:cNvSpPr/>
          <p:nvPr/>
        </p:nvSpPr>
        <p:spPr>
          <a:xfrm>
            <a:off x="4380349" y="2196604"/>
            <a:ext cx="179482" cy="224334"/>
          </a:xfrm>
          <a:prstGeom prst="rect">
            <a:avLst/>
          </a:prstGeom>
          <a:noFill/>
          <a:ln/>
        </p:spPr>
        <p:txBody>
          <a:bodyPr wrap="none" lIns="0" tIns="0" rIns="0" bIns="0" rtlCol="0" anchor="ctr"/>
          <a:lstStyle/>
          <a:p>
            <a:pPr algn="ctr" indent="0" marL="0">
              <a:lnSpc>
                <a:spcPct val="100000"/>
              </a:lnSpc>
              <a:buNone/>
            </a:pPr>
            <a:r>
              <a:rPr lang="en-US" sz="1400" dirty="0">
                <a:solidFill>
                  <a:srgbClr val="000000"/>
                </a:solidFill>
                <a:latin typeface="Red Hat Text" pitchFamily="34" charset="0"/>
                <a:ea typeface="Red Hat Text" pitchFamily="34" charset="-122"/>
                <a:cs typeface="Red Hat Text" pitchFamily="34" charset="-120"/>
              </a:rPr>
              <a:t>2</a:t>
            </a:r>
            <a:endParaRPr lang="en-US" sz="1400" dirty="0"/>
          </a:p>
        </p:txBody>
      </p:sp>
      <p:sp>
        <p:nvSpPr>
          <p:cNvPr id="11" name="Text 7"/>
          <p:cNvSpPr/>
          <p:nvPr/>
        </p:nvSpPr>
        <p:spPr>
          <a:xfrm>
            <a:off x="3418695" y="2682677"/>
            <a:ext cx="2102889" cy="219968"/>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ed Hat Text" pitchFamily="34" charset="0"/>
                <a:ea typeface="Red Hat Text" pitchFamily="34" charset="-122"/>
                <a:cs typeface="Red Hat Text" pitchFamily="34" charset="-120"/>
              </a:rPr>
              <a:t>Example</a:t>
            </a:r>
            <a:endParaRPr lang="en-US" sz="1350" dirty="0"/>
          </a:p>
        </p:txBody>
      </p:sp>
      <p:sp>
        <p:nvSpPr>
          <p:cNvPr id="12" name="Text 8"/>
          <p:cNvSpPr/>
          <p:nvPr/>
        </p:nvSpPr>
        <p:spPr>
          <a:xfrm>
            <a:off x="3418695" y="3014762"/>
            <a:ext cx="2102889" cy="837803"/>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3B3535"/>
                </a:solidFill>
                <a:latin typeface="Roboto Light" pitchFamily="34" charset="0"/>
                <a:ea typeface="Roboto Light" pitchFamily="34" charset="-122"/>
                <a:cs typeface="Roboto Light" pitchFamily="34" charset="-120"/>
              </a:rPr>
              <a:t>Request: “I need 10 computers with 16GB RAM and ≥512GB SSD” → Results: 4 (Dept A), 3 (Storage), 3 (Dept B)</a:t>
            </a:r>
            <a:endParaRPr lang="en-US" sz="1150" dirty="0"/>
          </a:p>
        </p:txBody>
      </p:sp>
      <p:sp>
        <p:nvSpPr>
          <p:cNvPr id="13" name="Text 9"/>
          <p:cNvSpPr/>
          <p:nvPr/>
        </p:nvSpPr>
        <p:spPr>
          <a:xfrm>
            <a:off x="6061419" y="1738213"/>
            <a:ext cx="4992067" cy="219968"/>
          </a:xfrm>
          <a:prstGeom prst="rect">
            <a:avLst/>
          </a:prstGeom>
          <a:noFill/>
          <a:ln/>
        </p:spPr>
        <p:txBody>
          <a:bodyPr wrap="none" lIns="0" tIns="0" rIns="0" bIns="0" rtlCol="0" anchor="t"/>
          <a:lstStyle/>
          <a:p>
            <a:pPr algn="ctr" indent="0" marL="0">
              <a:lnSpc>
                <a:spcPct val="104000"/>
              </a:lnSpc>
              <a:buNone/>
            </a:pPr>
            <a:r>
              <a:rPr lang="en-US" sz="1350" dirty="0">
                <a:solidFill>
                  <a:srgbClr val="1F1E1E"/>
                </a:solidFill>
                <a:latin typeface="Red Hat Text" pitchFamily="34" charset="0"/>
                <a:ea typeface="Red Hat Text" pitchFamily="34" charset="-122"/>
                <a:cs typeface="Red Hat Text" pitchFamily="34" charset="-120"/>
              </a:rPr>
              <a:t>SIDE B — “I NO LONGER NEED THIS”</a:t>
            </a:r>
            <a:endParaRPr lang="en-US" sz="135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61419" y="2084388"/>
            <a:ext cx="2439926" cy="1936750"/>
          </a:xfrm>
          <a:prstGeom prst="rect">
            <a:avLst/>
          </a:prstGeom>
        </p:spPr>
      </p:pic>
      <p:sp>
        <p:nvSpPr>
          <p:cNvPr id="15" name="Text 10"/>
          <p:cNvSpPr/>
          <p:nvPr/>
        </p:nvSpPr>
        <p:spPr>
          <a:xfrm>
            <a:off x="7191642" y="2196604"/>
            <a:ext cx="179482" cy="224334"/>
          </a:xfrm>
          <a:prstGeom prst="rect">
            <a:avLst/>
          </a:prstGeom>
          <a:noFill/>
          <a:ln/>
        </p:spPr>
        <p:txBody>
          <a:bodyPr wrap="none" lIns="0" tIns="0" rIns="0" bIns="0" rtlCol="0" anchor="ctr"/>
          <a:lstStyle/>
          <a:p>
            <a:pPr algn="ctr" indent="0" marL="0">
              <a:lnSpc>
                <a:spcPct val="100000"/>
              </a:lnSpc>
              <a:buNone/>
            </a:pPr>
            <a:r>
              <a:rPr lang="en-US" sz="1400" dirty="0">
                <a:solidFill>
                  <a:srgbClr val="000000"/>
                </a:solidFill>
                <a:latin typeface="Red Hat Text" pitchFamily="34" charset="0"/>
                <a:ea typeface="Red Hat Text" pitchFamily="34" charset="-122"/>
                <a:cs typeface="Red Hat Text" pitchFamily="34" charset="-120"/>
              </a:rPr>
              <a:t>1</a:t>
            </a:r>
            <a:endParaRPr lang="en-US" sz="1400" dirty="0"/>
          </a:p>
        </p:txBody>
      </p:sp>
      <p:sp>
        <p:nvSpPr>
          <p:cNvPr id="16" name="Text 11"/>
          <p:cNvSpPr/>
          <p:nvPr/>
        </p:nvSpPr>
        <p:spPr>
          <a:xfrm>
            <a:off x="6229988" y="2682677"/>
            <a:ext cx="2102790" cy="219968"/>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ed Hat Text" pitchFamily="34" charset="0"/>
                <a:ea typeface="Red Hat Text" pitchFamily="34" charset="-122"/>
                <a:cs typeface="Red Hat Text" pitchFamily="34" charset="-120"/>
              </a:rPr>
              <a:t>CIRCULARITY ENGINE</a:t>
            </a:r>
            <a:endParaRPr lang="en-US" sz="1350" dirty="0"/>
          </a:p>
        </p:txBody>
      </p:sp>
      <p:sp>
        <p:nvSpPr>
          <p:cNvPr id="17" name="Text 12"/>
          <p:cNvSpPr/>
          <p:nvPr/>
        </p:nvSpPr>
        <p:spPr>
          <a:xfrm>
            <a:off x="6229988" y="3014762"/>
            <a:ext cx="2102790" cy="837803"/>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3B3535"/>
                </a:solidFill>
                <a:latin typeface="Roboto Light" pitchFamily="34" charset="0"/>
                <a:ea typeface="Roboto Light" pitchFamily="34" charset="-122"/>
                <a:cs typeface="Roboto Light" pitchFamily="34" charset="-120"/>
              </a:rPr>
              <a:t>Image / description / inventory record → AI assessment → Condition + repairability → Circularity decision</a:t>
            </a:r>
            <a:endParaRPr lang="en-US" sz="1150" dirty="0"/>
          </a:p>
        </p:txBody>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13460" y="2084388"/>
            <a:ext cx="2440026" cy="1936750"/>
          </a:xfrm>
          <a:prstGeom prst="rect">
            <a:avLst/>
          </a:prstGeom>
        </p:spPr>
      </p:pic>
      <p:sp>
        <p:nvSpPr>
          <p:cNvPr id="19" name="Text 13"/>
          <p:cNvSpPr/>
          <p:nvPr/>
        </p:nvSpPr>
        <p:spPr>
          <a:xfrm>
            <a:off x="9743682" y="2196604"/>
            <a:ext cx="179482" cy="224334"/>
          </a:xfrm>
          <a:prstGeom prst="rect">
            <a:avLst/>
          </a:prstGeom>
          <a:noFill/>
          <a:ln/>
        </p:spPr>
        <p:txBody>
          <a:bodyPr wrap="none" lIns="0" tIns="0" rIns="0" bIns="0" rtlCol="0" anchor="ctr"/>
          <a:lstStyle/>
          <a:p>
            <a:pPr algn="ctr" indent="0" marL="0">
              <a:lnSpc>
                <a:spcPct val="100000"/>
              </a:lnSpc>
              <a:buNone/>
            </a:pPr>
            <a:r>
              <a:rPr lang="en-US" sz="1400" dirty="0">
                <a:solidFill>
                  <a:srgbClr val="000000"/>
                </a:solidFill>
                <a:latin typeface="Red Hat Text" pitchFamily="34" charset="0"/>
                <a:ea typeface="Red Hat Text" pitchFamily="34" charset="-122"/>
                <a:cs typeface="Red Hat Text" pitchFamily="34" charset="-120"/>
              </a:rPr>
              <a:t>2</a:t>
            </a:r>
            <a:endParaRPr lang="en-US" sz="1400" dirty="0"/>
          </a:p>
        </p:txBody>
      </p:sp>
      <p:sp>
        <p:nvSpPr>
          <p:cNvPr id="20" name="Text 14"/>
          <p:cNvSpPr/>
          <p:nvPr/>
        </p:nvSpPr>
        <p:spPr>
          <a:xfrm>
            <a:off x="8782029" y="2682677"/>
            <a:ext cx="2102889" cy="219968"/>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ed Hat Text" pitchFamily="34" charset="0"/>
                <a:ea typeface="Red Hat Text" pitchFamily="34" charset="-122"/>
                <a:cs typeface="Red Hat Text" pitchFamily="34" charset="-120"/>
              </a:rPr>
              <a:t>Decisions</a:t>
            </a:r>
            <a:endParaRPr lang="en-US" sz="1350" dirty="0"/>
          </a:p>
        </p:txBody>
      </p:sp>
      <p:sp>
        <p:nvSpPr>
          <p:cNvPr id="21" name="Text 15"/>
          <p:cNvSpPr/>
          <p:nvPr/>
        </p:nvSpPr>
        <p:spPr>
          <a:xfrm>
            <a:off x="8782029" y="3014762"/>
            <a:ext cx="2102889" cy="837803"/>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3B3535"/>
                </a:solidFill>
                <a:latin typeface="Roboto Light" pitchFamily="34" charset="0"/>
                <a:ea typeface="Roboto Light" pitchFamily="34" charset="-122"/>
                <a:cs typeface="Roboto Light" pitchFamily="34" charset="-120"/>
              </a:rPr>
              <a:t>Reuse → Repair → Repurpose → Redistribute/Donate → Recycle → Dispose (only when appropriate)</a:t>
            </a:r>
            <a:endParaRPr lang="en-US" sz="1150" dirty="0"/>
          </a:p>
        </p:txBody>
      </p:sp>
      <p:sp>
        <p:nvSpPr>
          <p:cNvPr id="22" name="Text 16"/>
          <p:cNvSpPr/>
          <p:nvPr/>
        </p:nvSpPr>
        <p:spPr>
          <a:xfrm>
            <a:off x="393293" y="5399187"/>
            <a:ext cx="11405108" cy="209451"/>
          </a:xfrm>
          <a:prstGeom prst="rect">
            <a:avLst/>
          </a:prstGeom>
          <a:noFill/>
          <a:ln/>
        </p:spPr>
        <p:txBody>
          <a:bodyPr wrap="none" lIns="0" tIns="0" rIns="0" bIns="0" rtlCol="0" anchor="t"/>
          <a:lstStyle/>
          <a:p>
            <a:pPr algn="ctr" indent="0" marL="0">
              <a:lnSpc>
                <a:spcPct val="117000"/>
              </a:lnSpc>
              <a:buNone/>
            </a:pPr>
            <a:r>
              <a:rPr lang="en-US" sz="1150" b="1" dirty="0">
                <a:solidFill>
                  <a:srgbClr val="3B3535"/>
                </a:solidFill>
                <a:latin typeface="Roboto Bold" pitchFamily="34" charset="0"/>
                <a:ea typeface="Roboto Bold" pitchFamily="34" charset="-122"/>
                <a:cs typeface="Roboto Bold" pitchFamily="34" charset="-120"/>
              </a:rPr>
              <a:t>ResourceLoop connects resource discovery with resource end‑of‑life decisions.</a:t>
            </a:r>
            <a:endParaRPr lang="en-US" sz="1150" dirty="0"/>
          </a:p>
        </p:txBody>
      </p:sp>
      <p:sp>
        <p:nvSpPr>
          <p:cNvPr id="23" name="Shape 17"/>
          <p:cNvSpPr/>
          <p:nvPr/>
        </p:nvSpPr>
        <p:spPr>
          <a:xfrm>
            <a:off x="698086" y="5734844"/>
            <a:ext cx="10795524" cy="497086"/>
          </a:xfrm>
          <a:prstGeom prst="roundRect">
            <a:avLst>
              <a:gd name="adj" fmla="val 4515"/>
            </a:avLst>
          </a:prstGeom>
          <a:solidFill>
            <a:srgbClr val="FAD1D1"/>
          </a:solidFill>
          <a:ln/>
        </p:spPr>
      </p:sp>
      <p:pic>
        <p:nvPicPr>
          <p:cNvPr id="24" name="Image 4" descr="preencoded.png">    </p:cNvPr>
          <p:cNvPicPr>
            <a:picLocks noChangeAspect="1"/>
          </p:cNvPicPr>
          <p:nvPr/>
        </p:nvPicPr>
        <p:blipFill>
          <a:blip r:embed="rId9"/>
          <a:stretch>
            <a:fillRect/>
          </a:stretch>
        </p:blipFill>
        <p:spPr>
          <a:xfrm>
            <a:off x="847605" y="5893098"/>
            <a:ext cx="186923" cy="149523"/>
          </a:xfrm>
          <a:prstGeom prst="rect">
            <a:avLst/>
          </a:prstGeom>
        </p:spPr>
      </p:pic>
      <p:sp>
        <p:nvSpPr>
          <p:cNvPr id="25" name="Text 18"/>
          <p:cNvSpPr/>
          <p:nvPr/>
        </p:nvSpPr>
        <p:spPr>
          <a:xfrm>
            <a:off x="1184047" y="5884267"/>
            <a:ext cx="10769628" cy="209451"/>
          </a:xfrm>
          <a:prstGeom prst="rect">
            <a:avLst/>
          </a:prstGeom>
          <a:noFill/>
          <a:ln/>
        </p:spPr>
        <p:txBody>
          <a:bodyPr wrap="none" lIns="0" tIns="0" rIns="0" bIns="0" rtlCol="0" anchor="t"/>
          <a:lstStyle/>
          <a:p>
            <a:pPr algn="l" indent="0" marL="0">
              <a:lnSpc>
                <a:spcPct val="117000"/>
              </a:lnSpc>
              <a:buNone/>
            </a:pPr>
            <a:r>
              <a:rPr lang="en-US" sz="1150" dirty="0">
                <a:solidFill>
                  <a:srgbClr val="000000"/>
                </a:solidFill>
                <a:latin typeface="Roboto Light" pitchFamily="34" charset="0"/>
                <a:ea typeface="Roboto Light" pitchFamily="34" charset="-122"/>
                <a:cs typeface="Roboto Light" pitchFamily="34" charset="-120"/>
              </a:rPr>
              <a:t>Human‑in‑the‑loop: AI recommends; authorised humans approve transfers, repairs and disposal decisions.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8086" y="591741"/>
            <a:ext cx="10795524" cy="375345"/>
          </a:xfrm>
          <a:prstGeom prst="rect">
            <a:avLst/>
          </a:prstGeom>
          <a:noFill/>
          <a:ln/>
        </p:spPr>
        <p:txBody>
          <a:bodyPr wrap="none" lIns="0" tIns="0" rIns="0" bIns="0" rtlCol="0" anchor="t"/>
          <a:lstStyle/>
          <a:p>
            <a:pPr algn="l" indent="0" marL="0">
              <a:lnSpc>
                <a:spcPct val="104000"/>
              </a:lnSpc>
              <a:buNone/>
            </a:pPr>
            <a:r>
              <a:rPr lang="en-US" sz="2350" dirty="0">
                <a:solidFill>
                  <a:srgbClr val="1F1E1E"/>
                </a:solidFill>
                <a:latin typeface="Red Hat Text" pitchFamily="34" charset="0"/>
                <a:ea typeface="Red Hat Text" pitchFamily="34" charset="-122"/>
                <a:cs typeface="Red Hat Text" pitchFamily="34" charset="-120"/>
              </a:rPr>
              <a:t>Resource match: more than keyword search</a:t>
            </a:r>
            <a:endParaRPr lang="en-US" sz="2350" dirty="0"/>
          </a:p>
        </p:txBody>
      </p:sp>
      <p:sp>
        <p:nvSpPr>
          <p:cNvPr id="3" name="Text 1"/>
          <p:cNvSpPr/>
          <p:nvPr/>
        </p:nvSpPr>
        <p:spPr>
          <a:xfrm>
            <a:off x="698086" y="1130399"/>
            <a:ext cx="11405108" cy="167382"/>
          </a:xfrm>
          <a:prstGeom prst="rect">
            <a:avLst/>
          </a:prstGeom>
          <a:noFill/>
          <a:ln/>
        </p:spPr>
        <p:txBody>
          <a:bodyPr wrap="none" lIns="0" tIns="0" rIns="0" bIns="0" rtlCol="0" anchor="t"/>
          <a:lstStyle/>
          <a:p>
            <a:pPr algn="l" indent="0" marL="0">
              <a:lnSpc>
                <a:spcPct val="109000"/>
              </a:lnSpc>
              <a:buNone/>
            </a:pPr>
            <a:r>
              <a:rPr lang="en-US" sz="1000" dirty="0">
                <a:solidFill>
                  <a:srgbClr val="3B3535"/>
                </a:solidFill>
                <a:latin typeface="Roboto Light" pitchFamily="34" charset="0"/>
                <a:ea typeface="Roboto Light" pitchFamily="34" charset="-122"/>
                <a:cs typeface="Roboto Light" pitchFamily="34" charset="-120"/>
              </a:rPr>
              <a:t>Five-step horizontal process: user request → structured parsing → inventory search → deterministic compatibility → explained match.</a:t>
            </a:r>
            <a:endParaRPr lang="en-US" sz="10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1389658"/>
            <a:ext cx="3544005" cy="1228427"/>
          </a:xfrm>
          <a:prstGeom prst="rect">
            <a:avLst/>
          </a:prstGeom>
        </p:spPr>
      </p:pic>
      <p:sp>
        <p:nvSpPr>
          <p:cNvPr id="5" name="Text 2"/>
          <p:cNvSpPr/>
          <p:nvPr/>
        </p:nvSpPr>
        <p:spPr>
          <a:xfrm>
            <a:off x="2393543" y="1485404"/>
            <a:ext cx="153091" cy="191393"/>
          </a:xfrm>
          <a:prstGeom prst="rect">
            <a:avLst/>
          </a:prstGeom>
          <a:noFill/>
          <a:ln/>
        </p:spPr>
        <p:txBody>
          <a:bodyPr wrap="none" lIns="0" tIns="0" rIns="0" bIns="0" rtlCol="0" anchor="ctr"/>
          <a:lstStyle/>
          <a:p>
            <a:pPr algn="ctr" indent="0" marL="0">
              <a:lnSpc>
                <a:spcPct val="100000"/>
              </a:lnSpc>
              <a:buNone/>
            </a:pPr>
            <a:r>
              <a:rPr lang="en-US" sz="1200" dirty="0">
                <a:solidFill>
                  <a:srgbClr val="000000"/>
                </a:solidFill>
                <a:latin typeface="Red Hat Text" pitchFamily="34" charset="0"/>
                <a:ea typeface="Red Hat Text" pitchFamily="34" charset="-122"/>
                <a:cs typeface="Red Hat Text" pitchFamily="34" charset="-120"/>
              </a:rPr>
              <a:t>1</a:t>
            </a:r>
            <a:endParaRPr lang="en-US" sz="1200" dirty="0"/>
          </a:p>
        </p:txBody>
      </p:sp>
      <p:sp>
        <p:nvSpPr>
          <p:cNvPr id="6" name="Text 3"/>
          <p:cNvSpPr/>
          <p:nvPr/>
        </p:nvSpPr>
        <p:spPr>
          <a:xfrm>
            <a:off x="844727" y="1900138"/>
            <a:ext cx="3250722" cy="187623"/>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ed Hat Text" pitchFamily="34" charset="0"/>
                <a:ea typeface="Red Hat Text" pitchFamily="34" charset="-122"/>
                <a:cs typeface="Red Hat Text" pitchFamily="34" charset="-120"/>
              </a:rPr>
              <a:t>01 — USER REQUEST</a:t>
            </a:r>
            <a:endParaRPr lang="en-US" sz="1150" dirty="0"/>
          </a:p>
        </p:txBody>
      </p:sp>
      <p:sp>
        <p:nvSpPr>
          <p:cNvPr id="7" name="Text 4"/>
          <p:cNvSpPr/>
          <p:nvPr/>
        </p:nvSpPr>
        <p:spPr>
          <a:xfrm>
            <a:off x="844727" y="2136676"/>
            <a:ext cx="3250722" cy="334764"/>
          </a:xfrm>
          <a:prstGeom prst="rect">
            <a:avLst/>
          </a:prstGeom>
          <a:noFill/>
          <a:ln/>
        </p:spPr>
        <p:txBody>
          <a:bodyPr wrap="square" lIns="0" tIns="0" rIns="0" bIns="0" rtlCol="0" anchor="t">
            <a:normAutofit/>
          </a:bodyPr>
          <a:lstStyle/>
          <a:p>
            <a:pPr algn="l" indent="0" marL="0">
              <a:lnSpc>
                <a:spcPct val="109000"/>
              </a:lnSpc>
              <a:buNone/>
            </a:pPr>
            <a:r>
              <a:rPr lang="en-US" sz="1000" dirty="0">
                <a:solidFill>
                  <a:srgbClr val="3B3535"/>
                </a:solidFill>
                <a:latin typeface="Roboto Light" pitchFamily="34" charset="0"/>
                <a:ea typeface="Roboto Light" pitchFamily="34" charset="-122"/>
                <a:cs typeface="Roboto Light" pitchFamily="34" charset="-120"/>
              </a:rPr>
              <a:t>“I need 10 computers with ≥16GB RAM, 512GB SSD, dedicated GPU.”</a:t>
            </a:r>
            <a:endParaRPr lang="en-US" sz="10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23746" y="1389658"/>
            <a:ext cx="3544104" cy="1228427"/>
          </a:xfrm>
          <a:prstGeom prst="rect">
            <a:avLst/>
          </a:prstGeom>
        </p:spPr>
      </p:pic>
      <p:sp>
        <p:nvSpPr>
          <p:cNvPr id="9" name="Text 5"/>
          <p:cNvSpPr/>
          <p:nvPr/>
        </p:nvSpPr>
        <p:spPr>
          <a:xfrm>
            <a:off x="6019203" y="1485404"/>
            <a:ext cx="153091" cy="191393"/>
          </a:xfrm>
          <a:prstGeom prst="rect">
            <a:avLst/>
          </a:prstGeom>
          <a:noFill/>
          <a:ln/>
        </p:spPr>
        <p:txBody>
          <a:bodyPr wrap="none" lIns="0" tIns="0" rIns="0" bIns="0" rtlCol="0" anchor="ctr"/>
          <a:lstStyle/>
          <a:p>
            <a:pPr algn="ctr" indent="0" marL="0">
              <a:lnSpc>
                <a:spcPct val="100000"/>
              </a:lnSpc>
              <a:buNone/>
            </a:pPr>
            <a:r>
              <a:rPr lang="en-US" sz="1200" dirty="0">
                <a:solidFill>
                  <a:srgbClr val="000000"/>
                </a:solidFill>
                <a:latin typeface="Red Hat Text" pitchFamily="34" charset="0"/>
                <a:ea typeface="Red Hat Text" pitchFamily="34" charset="-122"/>
                <a:cs typeface="Red Hat Text" pitchFamily="34" charset="-120"/>
              </a:rPr>
              <a:t>2</a:t>
            </a:r>
            <a:endParaRPr lang="en-US" sz="1200" dirty="0"/>
          </a:p>
        </p:txBody>
      </p:sp>
      <p:sp>
        <p:nvSpPr>
          <p:cNvPr id="10" name="Text 6"/>
          <p:cNvSpPr/>
          <p:nvPr/>
        </p:nvSpPr>
        <p:spPr>
          <a:xfrm>
            <a:off x="4470387" y="1900138"/>
            <a:ext cx="3250821" cy="187623"/>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ed Hat Text" pitchFamily="34" charset="0"/>
                <a:ea typeface="Red Hat Text" pitchFamily="34" charset="-122"/>
                <a:cs typeface="Red Hat Text" pitchFamily="34" charset="-120"/>
              </a:rPr>
              <a:t>02 — NLP / LLM PARSING</a:t>
            </a:r>
            <a:endParaRPr lang="en-US" sz="1150" dirty="0"/>
          </a:p>
        </p:txBody>
      </p:sp>
      <p:sp>
        <p:nvSpPr>
          <p:cNvPr id="11" name="Text 7"/>
          <p:cNvSpPr/>
          <p:nvPr/>
        </p:nvSpPr>
        <p:spPr>
          <a:xfrm>
            <a:off x="4470387" y="2136676"/>
            <a:ext cx="3250821" cy="334764"/>
          </a:xfrm>
          <a:prstGeom prst="rect">
            <a:avLst/>
          </a:prstGeom>
          <a:noFill/>
          <a:ln/>
        </p:spPr>
        <p:txBody>
          <a:bodyPr wrap="square" lIns="0" tIns="0" rIns="0" bIns="0" rtlCol="0" anchor="t">
            <a:normAutofit/>
          </a:bodyPr>
          <a:lstStyle/>
          <a:p>
            <a:pPr algn="l" indent="0" marL="0">
              <a:lnSpc>
                <a:spcPct val="109000"/>
              </a:lnSpc>
              <a:buNone/>
            </a:pPr>
            <a:r>
              <a:rPr lang="en-US" sz="1000" dirty="0">
                <a:solidFill>
                  <a:srgbClr val="3B3535"/>
                </a:solidFill>
                <a:latin typeface="Roboto Light" pitchFamily="34" charset="0"/>
                <a:ea typeface="Roboto Light" pitchFamily="34" charset="-122"/>
                <a:cs typeface="Roboto Light" pitchFamily="34" charset="-120"/>
              </a:rPr>
              <a:t>Structured output: Category=Computer; Quantity=10; RAM≥16GB; Storage≥512GB; GPU=Required</a:t>
            </a:r>
            <a:endParaRPr lang="en-US" sz="10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49505" y="1389658"/>
            <a:ext cx="3544104" cy="1228427"/>
          </a:xfrm>
          <a:prstGeom prst="rect">
            <a:avLst/>
          </a:prstGeom>
        </p:spPr>
      </p:pic>
      <p:sp>
        <p:nvSpPr>
          <p:cNvPr id="13" name="Text 8"/>
          <p:cNvSpPr/>
          <p:nvPr/>
        </p:nvSpPr>
        <p:spPr>
          <a:xfrm>
            <a:off x="9644962" y="1485404"/>
            <a:ext cx="153091" cy="191393"/>
          </a:xfrm>
          <a:prstGeom prst="rect">
            <a:avLst/>
          </a:prstGeom>
          <a:noFill/>
          <a:ln/>
        </p:spPr>
        <p:txBody>
          <a:bodyPr wrap="none" lIns="0" tIns="0" rIns="0" bIns="0" rtlCol="0" anchor="ctr"/>
          <a:lstStyle/>
          <a:p>
            <a:pPr algn="ctr" indent="0" marL="0">
              <a:lnSpc>
                <a:spcPct val="100000"/>
              </a:lnSpc>
              <a:buNone/>
            </a:pPr>
            <a:r>
              <a:rPr lang="en-US" sz="1200" dirty="0">
                <a:solidFill>
                  <a:srgbClr val="000000"/>
                </a:solidFill>
                <a:latin typeface="Red Hat Text" pitchFamily="34" charset="0"/>
                <a:ea typeface="Red Hat Text" pitchFamily="34" charset="-122"/>
                <a:cs typeface="Red Hat Text" pitchFamily="34" charset="-120"/>
              </a:rPr>
              <a:t>3</a:t>
            </a:r>
            <a:endParaRPr lang="en-US" sz="1200" dirty="0"/>
          </a:p>
        </p:txBody>
      </p:sp>
      <p:sp>
        <p:nvSpPr>
          <p:cNvPr id="14" name="Text 9"/>
          <p:cNvSpPr/>
          <p:nvPr/>
        </p:nvSpPr>
        <p:spPr>
          <a:xfrm>
            <a:off x="8096147" y="1900138"/>
            <a:ext cx="3250821" cy="187623"/>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ed Hat Text" pitchFamily="34" charset="0"/>
                <a:ea typeface="Red Hat Text" pitchFamily="34" charset="-122"/>
                <a:cs typeface="Red Hat Text" pitchFamily="34" charset="-120"/>
              </a:rPr>
              <a:t>03 — RESOURCE SEARCH</a:t>
            </a:r>
            <a:endParaRPr lang="en-US" sz="1150" dirty="0"/>
          </a:p>
        </p:txBody>
      </p:sp>
      <p:sp>
        <p:nvSpPr>
          <p:cNvPr id="15" name="Text 10"/>
          <p:cNvSpPr/>
          <p:nvPr/>
        </p:nvSpPr>
        <p:spPr>
          <a:xfrm>
            <a:off x="8096147" y="2136676"/>
            <a:ext cx="3250821" cy="334764"/>
          </a:xfrm>
          <a:prstGeom prst="rect">
            <a:avLst/>
          </a:prstGeom>
          <a:noFill/>
          <a:ln/>
        </p:spPr>
        <p:txBody>
          <a:bodyPr wrap="square" lIns="0" tIns="0" rIns="0" bIns="0" rtlCol="0" anchor="t">
            <a:normAutofit/>
          </a:bodyPr>
          <a:lstStyle/>
          <a:p>
            <a:pPr algn="l" indent="0" marL="0">
              <a:lnSpc>
                <a:spcPct val="109000"/>
              </a:lnSpc>
              <a:buNone/>
            </a:pPr>
            <a:r>
              <a:rPr lang="en-US" sz="1000" dirty="0">
                <a:solidFill>
                  <a:srgbClr val="3B3535"/>
                </a:solidFill>
                <a:latin typeface="Roboto Light" pitchFamily="34" charset="0"/>
                <a:ea typeface="Roboto Light" pitchFamily="34" charset="-122"/>
                <a:cs typeface="Roboto Light" pitchFamily="34" charset="-120"/>
              </a:rPr>
              <a:t>Search across org inventories, departments, storage and shared networks with canonicalised attributes.</a:t>
            </a:r>
            <a:endParaRPr lang="en-US" sz="10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8086" y="2699742"/>
            <a:ext cx="5356885" cy="1228427"/>
          </a:xfrm>
          <a:prstGeom prst="rect">
            <a:avLst/>
          </a:prstGeom>
        </p:spPr>
      </p:pic>
      <p:sp>
        <p:nvSpPr>
          <p:cNvPr id="17" name="Text 11"/>
          <p:cNvSpPr/>
          <p:nvPr/>
        </p:nvSpPr>
        <p:spPr>
          <a:xfrm>
            <a:off x="3299983" y="2795488"/>
            <a:ext cx="153091" cy="191393"/>
          </a:xfrm>
          <a:prstGeom prst="rect">
            <a:avLst/>
          </a:prstGeom>
          <a:noFill/>
          <a:ln/>
        </p:spPr>
        <p:txBody>
          <a:bodyPr wrap="none" lIns="0" tIns="0" rIns="0" bIns="0" rtlCol="0" anchor="ctr"/>
          <a:lstStyle/>
          <a:p>
            <a:pPr algn="ctr" indent="0" marL="0">
              <a:lnSpc>
                <a:spcPct val="100000"/>
              </a:lnSpc>
              <a:buNone/>
            </a:pPr>
            <a:r>
              <a:rPr lang="en-US" sz="1200" dirty="0">
                <a:solidFill>
                  <a:srgbClr val="000000"/>
                </a:solidFill>
                <a:latin typeface="Red Hat Text" pitchFamily="34" charset="0"/>
                <a:ea typeface="Red Hat Text" pitchFamily="34" charset="-122"/>
                <a:cs typeface="Red Hat Text" pitchFamily="34" charset="-120"/>
              </a:rPr>
              <a:t>4</a:t>
            </a:r>
            <a:endParaRPr lang="en-US" sz="1200" dirty="0"/>
          </a:p>
        </p:txBody>
      </p:sp>
      <p:sp>
        <p:nvSpPr>
          <p:cNvPr id="18" name="Text 12"/>
          <p:cNvSpPr/>
          <p:nvPr/>
        </p:nvSpPr>
        <p:spPr>
          <a:xfrm>
            <a:off x="844727" y="3210223"/>
            <a:ext cx="5063601" cy="187623"/>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ed Hat Text" pitchFamily="34" charset="0"/>
                <a:ea typeface="Red Hat Text" pitchFamily="34" charset="-122"/>
                <a:cs typeface="Red Hat Text" pitchFamily="34" charset="-120"/>
              </a:rPr>
              <a:t>04 — DETERMINISTIC COMPATIBILITY</a:t>
            </a:r>
            <a:endParaRPr lang="en-US" sz="1150" dirty="0"/>
          </a:p>
        </p:txBody>
      </p:sp>
      <p:sp>
        <p:nvSpPr>
          <p:cNvPr id="19" name="Text 13"/>
          <p:cNvSpPr/>
          <p:nvPr/>
        </p:nvSpPr>
        <p:spPr>
          <a:xfrm>
            <a:off x="844727" y="3446760"/>
            <a:ext cx="5063601" cy="334764"/>
          </a:xfrm>
          <a:prstGeom prst="rect">
            <a:avLst/>
          </a:prstGeom>
          <a:noFill/>
          <a:ln/>
        </p:spPr>
        <p:txBody>
          <a:bodyPr wrap="square" lIns="0" tIns="0" rIns="0" bIns="0" rtlCol="0" anchor="t">
            <a:normAutofit/>
          </a:bodyPr>
          <a:lstStyle/>
          <a:p>
            <a:pPr algn="l" indent="0" marL="0">
              <a:lnSpc>
                <a:spcPct val="109000"/>
              </a:lnSpc>
              <a:buNone/>
            </a:pPr>
            <a:r>
              <a:rPr lang="en-US" sz="1000" dirty="0">
                <a:solidFill>
                  <a:srgbClr val="3B3535"/>
                </a:solidFill>
                <a:latin typeface="Roboto Light" pitchFamily="34" charset="0"/>
                <a:ea typeface="Roboto Light" pitchFamily="34" charset="-122"/>
                <a:cs typeface="Roboto Light" pitchFamily="34" charset="-120"/>
              </a:rPr>
              <a:t>Verify CPU | RAM | Storage | GPU | Quantity | Condition | Availability using deterministic logic and hardware parsers — LLMs do NOT make the final compatibility call.</a:t>
            </a:r>
            <a:endParaRPr lang="en-US" sz="1000" dirty="0"/>
          </a:p>
        </p:txBody>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36625" y="2699742"/>
            <a:ext cx="5356984" cy="1228427"/>
          </a:xfrm>
          <a:prstGeom prst="rect">
            <a:avLst/>
          </a:prstGeom>
        </p:spPr>
      </p:pic>
      <p:sp>
        <p:nvSpPr>
          <p:cNvPr id="21" name="Text 14"/>
          <p:cNvSpPr/>
          <p:nvPr/>
        </p:nvSpPr>
        <p:spPr>
          <a:xfrm>
            <a:off x="8738522" y="2795488"/>
            <a:ext cx="153091" cy="191393"/>
          </a:xfrm>
          <a:prstGeom prst="rect">
            <a:avLst/>
          </a:prstGeom>
          <a:noFill/>
          <a:ln/>
        </p:spPr>
        <p:txBody>
          <a:bodyPr wrap="none" lIns="0" tIns="0" rIns="0" bIns="0" rtlCol="0" anchor="ctr"/>
          <a:lstStyle/>
          <a:p>
            <a:pPr algn="ctr" indent="0" marL="0">
              <a:lnSpc>
                <a:spcPct val="100000"/>
              </a:lnSpc>
              <a:buNone/>
            </a:pPr>
            <a:r>
              <a:rPr lang="en-US" sz="1200" dirty="0">
                <a:solidFill>
                  <a:srgbClr val="000000"/>
                </a:solidFill>
                <a:latin typeface="Red Hat Text" pitchFamily="34" charset="0"/>
                <a:ea typeface="Red Hat Text" pitchFamily="34" charset="-122"/>
                <a:cs typeface="Red Hat Text" pitchFamily="34" charset="-120"/>
              </a:rPr>
              <a:t>5</a:t>
            </a:r>
            <a:endParaRPr lang="en-US" sz="1200" dirty="0"/>
          </a:p>
        </p:txBody>
      </p:sp>
      <p:sp>
        <p:nvSpPr>
          <p:cNvPr id="22" name="Text 15"/>
          <p:cNvSpPr/>
          <p:nvPr/>
        </p:nvSpPr>
        <p:spPr>
          <a:xfrm>
            <a:off x="6283267" y="3210223"/>
            <a:ext cx="5063701" cy="187623"/>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ed Hat Text" pitchFamily="34" charset="0"/>
                <a:ea typeface="Red Hat Text" pitchFamily="34" charset="-122"/>
                <a:cs typeface="Red Hat Text" pitchFamily="34" charset="-120"/>
              </a:rPr>
              <a:t>05 — EXPLAINED MATCH</a:t>
            </a:r>
            <a:endParaRPr lang="en-US" sz="1150" dirty="0"/>
          </a:p>
        </p:txBody>
      </p:sp>
      <p:sp>
        <p:nvSpPr>
          <p:cNvPr id="23" name="Text 16"/>
          <p:cNvSpPr/>
          <p:nvPr/>
        </p:nvSpPr>
        <p:spPr>
          <a:xfrm>
            <a:off x="6283267" y="3446760"/>
            <a:ext cx="5063701" cy="334764"/>
          </a:xfrm>
          <a:prstGeom prst="rect">
            <a:avLst/>
          </a:prstGeom>
          <a:noFill/>
          <a:ln/>
        </p:spPr>
        <p:txBody>
          <a:bodyPr wrap="square" lIns="0" tIns="0" rIns="0" bIns="0" rtlCol="0" anchor="t">
            <a:normAutofit/>
          </a:bodyPr>
          <a:lstStyle/>
          <a:p>
            <a:pPr algn="l" indent="0" marL="0">
              <a:lnSpc>
                <a:spcPct val="109000"/>
              </a:lnSpc>
              <a:buNone/>
            </a:pPr>
            <a:r>
              <a:rPr lang="en-US" sz="1000" dirty="0">
                <a:solidFill>
                  <a:srgbClr val="3B3535"/>
                </a:solidFill>
                <a:latin typeface="Roboto Light" pitchFamily="34" charset="0"/>
                <a:ea typeface="Roboto Light" pitchFamily="34" charset="-122"/>
                <a:cs typeface="Roboto Light" pitchFamily="34" charset="-120"/>
              </a:rPr>
              <a:t>Deliver scored, traceable matches with per‑factor breakdown and human‑readable explanation.</a:t>
            </a:r>
            <a:endParaRPr lang="en-US" sz="1000" dirty="0"/>
          </a:p>
        </p:txBody>
      </p:sp>
      <p:sp>
        <p:nvSpPr>
          <p:cNvPr id="24" name="Shape 17"/>
          <p:cNvSpPr/>
          <p:nvPr/>
        </p:nvSpPr>
        <p:spPr>
          <a:xfrm>
            <a:off x="698086" y="4051895"/>
            <a:ext cx="10795524" cy="19050"/>
          </a:xfrm>
          <a:prstGeom prst="roundRect">
            <a:avLst>
              <a:gd name="adj" fmla="val 49999"/>
            </a:avLst>
          </a:prstGeom>
          <a:solidFill>
            <a:srgbClr val="3B3535">
              <a:alpha val="50000"/>
            </a:srgbClr>
          </a:solidFill>
          <a:ln/>
        </p:spPr>
      </p:sp>
      <p:sp>
        <p:nvSpPr>
          <p:cNvPr id="25" name="Shape 18"/>
          <p:cNvSpPr/>
          <p:nvPr/>
        </p:nvSpPr>
        <p:spPr>
          <a:xfrm>
            <a:off x="698086" y="4194671"/>
            <a:ext cx="10795524" cy="2071489"/>
          </a:xfrm>
          <a:prstGeom prst="roundRect">
            <a:avLst>
              <a:gd name="adj" fmla="val 924"/>
            </a:avLst>
          </a:prstGeom>
          <a:solidFill>
            <a:srgbClr val="F3E8E8"/>
          </a:solidFill>
          <a:ln/>
        </p:spPr>
      </p:sp>
      <p:sp>
        <p:nvSpPr>
          <p:cNvPr id="26" name="Text 19"/>
          <p:cNvSpPr/>
          <p:nvPr/>
        </p:nvSpPr>
        <p:spPr>
          <a:xfrm>
            <a:off x="825678" y="4322266"/>
            <a:ext cx="10540339" cy="187623"/>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ed Hat Text" pitchFamily="34" charset="0"/>
                <a:ea typeface="Red Hat Text" pitchFamily="34" charset="-122"/>
                <a:cs typeface="Red Hat Text" pitchFamily="34" charset="-120"/>
              </a:rPr>
              <a:t>Dell OptiPlex 7090 — Example</a:t>
            </a:r>
            <a:endParaRPr lang="en-US" sz="1150" dirty="0"/>
          </a:p>
        </p:txBody>
      </p:sp>
      <p:sp>
        <p:nvSpPr>
          <p:cNvPr id="27" name="Text 20"/>
          <p:cNvSpPr/>
          <p:nvPr/>
        </p:nvSpPr>
        <p:spPr>
          <a:xfrm>
            <a:off x="825678" y="4558804"/>
            <a:ext cx="10540339" cy="167382"/>
          </a:xfrm>
          <a:prstGeom prst="rect">
            <a:avLst/>
          </a:prstGeom>
          <a:noFill/>
          <a:ln/>
        </p:spPr>
        <p:txBody>
          <a:bodyPr wrap="none" lIns="0" tIns="0" rIns="0" bIns="0" rtlCol="0" anchor="t"/>
          <a:lstStyle/>
          <a:p>
            <a:pPr algn="l" indent="0" marL="0">
              <a:lnSpc>
                <a:spcPct val="109000"/>
              </a:lnSpc>
              <a:buNone/>
            </a:pPr>
            <a:r>
              <a:rPr lang="en-US" sz="1000" b="1" dirty="0">
                <a:solidFill>
                  <a:srgbClr val="3B3535"/>
                </a:solidFill>
                <a:latin typeface="Roboto Bold" pitchFamily="34" charset="0"/>
                <a:ea typeface="Roboto Bold" pitchFamily="34" charset="-122"/>
                <a:cs typeface="Roboto Bold" pitchFamily="34" charset="-120"/>
              </a:rPr>
              <a:t>93% overall match</a:t>
            </a:r>
            <a:endParaRPr lang="en-US" sz="1000" dirty="0"/>
          </a:p>
        </p:txBody>
      </p:sp>
      <p:sp>
        <p:nvSpPr>
          <p:cNvPr id="28" name="Text 21"/>
          <p:cNvSpPr/>
          <p:nvPr/>
        </p:nvSpPr>
        <p:spPr>
          <a:xfrm>
            <a:off x="825678" y="4775101"/>
            <a:ext cx="10540339" cy="1147167"/>
          </a:xfrm>
          <a:prstGeom prst="rect">
            <a:avLst/>
          </a:prstGeom>
          <a:noFill/>
          <a:ln/>
        </p:spPr>
        <p:txBody>
          <a:bodyPr wrap="square" lIns="0" tIns="0" rIns="0" bIns="0" rtlCol="0" anchor="t">
            <a:normAutofit/>
          </a:bodyPr>
          <a:lstStyle/>
          <a:p>
            <a:pPr algn="l" marL="203200" indent="-203200">
              <a:lnSpc>
                <a:spcPct val="109000"/>
              </a:lnSpc>
              <a:buSzPct val="100000"/>
              <a:buChar char="•"/>
            </a:pPr>
            <a:r>
              <a:rPr lang="en-US" sz="1000" dirty="0">
                <a:solidFill>
                  <a:srgbClr val="3B3535"/>
                </a:solidFill>
                <a:latin typeface="Roboto Light" pitchFamily="34" charset="0"/>
                <a:ea typeface="Roboto Light" pitchFamily="34" charset="-122"/>
                <a:cs typeface="Roboto Light" pitchFamily="34" charset="-120"/>
              </a:rPr>
              <a:t>Technical compatibility — 100%</a:t>
            </a:r>
            <a:endParaRPr lang="en-US" sz="1000" dirty="0"/>
          </a:p>
          <a:p>
            <a:pPr algn="l" marL="203200" indent="-203200">
              <a:lnSpc>
                <a:spcPct val="109000"/>
              </a:lnSpc>
              <a:buSzPct val="100000"/>
              <a:buChar char="•"/>
            </a:pPr>
            <a:r>
              <a:rPr lang="en-US" sz="1000" dirty="0">
                <a:solidFill>
                  <a:srgbClr val="3B3535"/>
                </a:solidFill>
                <a:latin typeface="Roboto Light" pitchFamily="34" charset="0"/>
                <a:ea typeface="Roboto Light" pitchFamily="34" charset="-122"/>
                <a:cs typeface="Roboto Light" pitchFamily="34" charset="-120"/>
              </a:rPr>
              <a:t>Condition — 80%</a:t>
            </a:r>
            <a:endParaRPr lang="en-US" sz="1000" dirty="0"/>
          </a:p>
          <a:p>
            <a:pPr algn="l" marL="203200" indent="-203200">
              <a:lnSpc>
                <a:spcPct val="109000"/>
              </a:lnSpc>
              <a:buSzPct val="100000"/>
              <a:buChar char="•"/>
            </a:pPr>
            <a:r>
              <a:rPr lang="en-US" sz="1000" dirty="0">
                <a:solidFill>
                  <a:srgbClr val="3B3535"/>
                </a:solidFill>
                <a:latin typeface="Roboto Light" pitchFamily="34" charset="0"/>
                <a:ea typeface="Roboto Light" pitchFamily="34" charset="-122"/>
                <a:cs typeface="Roboto Light" pitchFamily="34" charset="-120"/>
              </a:rPr>
              <a:t>Availability — 100%</a:t>
            </a:r>
            <a:endParaRPr lang="en-US" sz="1000" dirty="0"/>
          </a:p>
          <a:p>
            <a:pPr algn="l" marL="203200" indent="-203200">
              <a:lnSpc>
                <a:spcPct val="109000"/>
              </a:lnSpc>
              <a:buSzPct val="100000"/>
              <a:buChar char="•"/>
            </a:pPr>
            <a:r>
              <a:rPr lang="en-US" sz="1000" dirty="0">
                <a:solidFill>
                  <a:srgbClr val="3B3535"/>
                </a:solidFill>
                <a:latin typeface="Roboto Light" pitchFamily="34" charset="0"/>
                <a:ea typeface="Roboto Light" pitchFamily="34" charset="-122"/>
                <a:cs typeface="Roboto Light" pitchFamily="34" charset="-120"/>
              </a:rPr>
              <a:t>Underutilisation — 100%</a:t>
            </a:r>
            <a:endParaRPr lang="en-US" sz="1000" dirty="0"/>
          </a:p>
          <a:p>
            <a:pPr algn="l" marL="203200" indent="-203200">
              <a:lnSpc>
                <a:spcPct val="109000"/>
              </a:lnSpc>
              <a:buSzPct val="100000"/>
              <a:buChar char="•"/>
            </a:pPr>
            <a:r>
              <a:rPr lang="en-US" sz="1000" dirty="0">
                <a:solidFill>
                  <a:srgbClr val="3B3535"/>
                </a:solidFill>
                <a:latin typeface="Roboto Light" pitchFamily="34" charset="0"/>
                <a:ea typeface="Roboto Light" pitchFamily="34" charset="-122"/>
                <a:cs typeface="Roboto Light" pitchFamily="34" charset="-120"/>
              </a:rPr>
              <a:t>Logistics — 70% (location penalty)</a:t>
            </a:r>
            <a:endParaRPr lang="en-US" sz="1000" dirty="0"/>
          </a:p>
          <a:p>
            <a:pPr algn="l" marL="203200" indent="-203200">
              <a:lnSpc>
                <a:spcPct val="109000"/>
              </a:lnSpc>
              <a:buSzPct val="100000"/>
              <a:buChar char="•"/>
            </a:pPr>
            <a:r>
              <a:rPr lang="en-US" sz="1000" dirty="0">
                <a:solidFill>
                  <a:srgbClr val="3B3535"/>
                </a:solidFill>
                <a:latin typeface="Roboto Light" pitchFamily="34" charset="0"/>
                <a:ea typeface="Roboto Light" pitchFamily="34" charset="-122"/>
                <a:cs typeface="Roboto Light" pitchFamily="34" charset="-120"/>
              </a:rPr>
              <a:t>Remaining life — 100% (based on records, not image alone)</a:t>
            </a:r>
            <a:endParaRPr lang="en-US" sz="1000" dirty="0"/>
          </a:p>
        </p:txBody>
      </p:sp>
      <p:sp>
        <p:nvSpPr>
          <p:cNvPr id="29" name="Text 22"/>
          <p:cNvSpPr/>
          <p:nvPr/>
        </p:nvSpPr>
        <p:spPr>
          <a:xfrm>
            <a:off x="825678" y="5971183"/>
            <a:ext cx="10540339" cy="167382"/>
          </a:xfrm>
          <a:prstGeom prst="rect">
            <a:avLst/>
          </a:prstGeom>
          <a:noFill/>
          <a:ln/>
        </p:spPr>
        <p:txBody>
          <a:bodyPr wrap="none" lIns="0" tIns="0" rIns="0" bIns="0" rtlCol="0" anchor="t"/>
          <a:lstStyle/>
          <a:p>
            <a:pPr algn="l" indent="0" marL="0">
              <a:lnSpc>
                <a:spcPct val="109000"/>
              </a:lnSpc>
              <a:buNone/>
            </a:pPr>
            <a:r>
              <a:rPr lang="en-US" sz="1000" b="1" dirty="0">
                <a:solidFill>
                  <a:srgbClr val="3B3535"/>
                </a:solidFill>
                <a:latin typeface="Roboto Bold" pitchFamily="34" charset="0"/>
                <a:ea typeface="Roboto Bold" pitchFamily="34" charset="-122"/>
                <a:cs typeface="Roboto Bold" pitchFamily="34" charset="-120"/>
              </a:rPr>
              <a:t>Note:</a:t>
            </a:r>
            <a:pPr algn="l" indent="0" marL="0">
              <a:lnSpc>
                <a:spcPct val="109000"/>
              </a:lnSpc>
              <a:buNone/>
            </a:pPr>
            <a:r>
              <a:rPr lang="en-US" sz="1000" dirty="0">
                <a:solidFill>
                  <a:srgbClr val="3B3535"/>
                </a:solidFill>
                <a:latin typeface="Roboto Light" pitchFamily="34" charset="0"/>
                <a:ea typeface="Roboto Light" pitchFamily="34" charset="-122"/>
                <a:cs typeface="Roboto Light" pitchFamily="34" charset="-120"/>
              </a:rPr>
              <a:t> LLM interprets the request; deterministic logic verifies technical constraints.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8086" y="561677"/>
            <a:ext cx="10795524" cy="375345"/>
          </a:xfrm>
          <a:prstGeom prst="rect">
            <a:avLst/>
          </a:prstGeom>
          <a:noFill/>
          <a:ln/>
        </p:spPr>
        <p:txBody>
          <a:bodyPr wrap="none" lIns="0" tIns="0" rIns="0" bIns="0" rtlCol="0" anchor="t"/>
          <a:lstStyle/>
          <a:p>
            <a:pPr algn="l" indent="0" marL="0">
              <a:lnSpc>
                <a:spcPct val="104000"/>
              </a:lnSpc>
              <a:buNone/>
            </a:pPr>
            <a:r>
              <a:rPr lang="en-US" sz="2350" dirty="0">
                <a:solidFill>
                  <a:srgbClr val="1F1E1E"/>
                </a:solidFill>
                <a:latin typeface="Red Hat Text" pitchFamily="34" charset="0"/>
                <a:ea typeface="Red Hat Text" pitchFamily="34" charset="-122"/>
                <a:cs typeface="Red Hat Text" pitchFamily="34" charset="-120"/>
              </a:rPr>
              <a:t>Circularity engine: what happens before disposal?</a:t>
            </a:r>
            <a:endParaRPr lang="en-US" sz="2350" dirty="0"/>
          </a:p>
        </p:txBody>
      </p:sp>
      <p:pic>
        <p:nvPicPr>
          <p:cNvPr id="3" name="Image 0" descr="preencoded.png">    </p:cNvPr>
          <p:cNvPicPr>
            <a:picLocks noChangeAspect="1"/>
          </p:cNvPicPr>
          <p:nvPr/>
        </p:nvPicPr>
        <p:blipFill>
          <a:blip r:embed="rId1"/>
          <a:stretch>
            <a:fillRect/>
          </a:stretch>
        </p:blipFill>
        <p:spPr>
          <a:xfrm>
            <a:off x="2644014" y="1100336"/>
            <a:ext cx="6903666" cy="3393777"/>
          </a:xfrm>
          <a:prstGeom prst="rect">
            <a:avLst/>
          </a:prstGeom>
        </p:spPr>
      </p:pic>
      <p:sp>
        <p:nvSpPr>
          <p:cNvPr id="4" name="Text 1"/>
          <p:cNvSpPr/>
          <p:nvPr/>
        </p:nvSpPr>
        <p:spPr>
          <a:xfrm>
            <a:off x="6022157" y="1418940"/>
            <a:ext cx="1485819" cy="185622"/>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ed Hat Text" pitchFamily="34" charset="0"/>
                <a:ea typeface="Red Hat Text" pitchFamily="34" charset="-122"/>
                <a:cs typeface="Red Hat Text" pitchFamily="34" charset="-120"/>
              </a:rPr>
              <a:t>Repurpose/Recycle</a:t>
            </a:r>
            <a:endParaRPr lang="en-US" sz="1150" dirty="0"/>
          </a:p>
        </p:txBody>
      </p:sp>
      <p:sp>
        <p:nvSpPr>
          <p:cNvPr id="5" name="Text 2"/>
          <p:cNvSpPr/>
          <p:nvPr/>
        </p:nvSpPr>
        <p:spPr>
          <a:xfrm>
            <a:off x="6022157" y="1660699"/>
            <a:ext cx="3192669" cy="129376"/>
          </a:xfrm>
          <a:prstGeom prst="rect">
            <a:avLst/>
          </a:prstGeom>
          <a:noFill/>
          <a:ln/>
        </p:spPr>
        <p:txBody>
          <a:bodyPr wrap="none" lIns="0" tIns="0" rIns="0" bIns="0" rtlCol="0" anchor="t"/>
          <a:lstStyle/>
          <a:p>
            <a:pPr algn="l" indent="0" marL="0">
              <a:lnSpc>
                <a:spcPct val="85000"/>
              </a:lnSpc>
              <a:buNone/>
            </a:pPr>
            <a:r>
              <a:rPr lang="en-US" sz="950" dirty="0">
                <a:solidFill>
                  <a:srgbClr val="3B3535"/>
                </a:solidFill>
                <a:latin typeface="Roboto Light" pitchFamily="34" charset="0"/>
                <a:ea typeface="Roboto Light" pitchFamily="34" charset="-122"/>
                <a:cs typeface="Roboto Light" pitchFamily="34" charset="-120"/>
              </a:rPr>
              <a:t>Donate, recover, or dispose</a:t>
            </a:r>
            <a:endParaRPr lang="en-US" sz="950" dirty="0"/>
          </a:p>
        </p:txBody>
      </p:sp>
      <p:sp>
        <p:nvSpPr>
          <p:cNvPr id="6" name="Text 3"/>
          <p:cNvSpPr/>
          <p:nvPr/>
        </p:nvSpPr>
        <p:spPr>
          <a:xfrm>
            <a:off x="6022157" y="2211865"/>
            <a:ext cx="1485819" cy="185622"/>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ed Hat Text" pitchFamily="34" charset="0"/>
                <a:ea typeface="Red Hat Text" pitchFamily="34" charset="-122"/>
                <a:cs typeface="Red Hat Text" pitchFamily="34" charset="-120"/>
              </a:rPr>
              <a:t>Repairable?</a:t>
            </a:r>
            <a:endParaRPr lang="en-US" sz="1150" dirty="0"/>
          </a:p>
        </p:txBody>
      </p:sp>
      <p:sp>
        <p:nvSpPr>
          <p:cNvPr id="7" name="Text 4"/>
          <p:cNvSpPr/>
          <p:nvPr/>
        </p:nvSpPr>
        <p:spPr>
          <a:xfrm>
            <a:off x="6022157" y="2453623"/>
            <a:ext cx="3192669" cy="129377"/>
          </a:xfrm>
          <a:prstGeom prst="rect">
            <a:avLst/>
          </a:prstGeom>
          <a:noFill/>
          <a:ln/>
        </p:spPr>
        <p:txBody>
          <a:bodyPr wrap="none" lIns="0" tIns="0" rIns="0" bIns="0" rtlCol="0" anchor="t"/>
          <a:lstStyle/>
          <a:p>
            <a:pPr algn="l" indent="0" marL="0">
              <a:lnSpc>
                <a:spcPct val="85000"/>
              </a:lnSpc>
              <a:buNone/>
            </a:pPr>
            <a:r>
              <a:rPr lang="en-US" sz="950" dirty="0">
                <a:solidFill>
                  <a:srgbClr val="3B3535"/>
                </a:solidFill>
                <a:latin typeface="Roboto Light" pitchFamily="34" charset="0"/>
                <a:ea typeface="Roboto Light" pitchFamily="34" charset="-122"/>
                <a:cs typeface="Roboto Light" pitchFamily="34" charset="-120"/>
              </a:rPr>
              <a:t>Can damage be fixed?</a:t>
            </a:r>
            <a:endParaRPr lang="en-US" sz="950" dirty="0"/>
          </a:p>
        </p:txBody>
      </p:sp>
      <p:sp>
        <p:nvSpPr>
          <p:cNvPr id="8" name="Text 5"/>
          <p:cNvSpPr/>
          <p:nvPr/>
        </p:nvSpPr>
        <p:spPr>
          <a:xfrm>
            <a:off x="6022157" y="3004789"/>
            <a:ext cx="1485819" cy="185622"/>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ed Hat Text" pitchFamily="34" charset="0"/>
                <a:ea typeface="Red Hat Text" pitchFamily="34" charset="-122"/>
                <a:cs typeface="Red Hat Text" pitchFamily="34" charset="-120"/>
              </a:rPr>
              <a:t>Reusable?</a:t>
            </a:r>
            <a:endParaRPr lang="en-US" sz="1150" dirty="0"/>
          </a:p>
        </p:txBody>
      </p:sp>
      <p:sp>
        <p:nvSpPr>
          <p:cNvPr id="9" name="Text 6"/>
          <p:cNvSpPr/>
          <p:nvPr/>
        </p:nvSpPr>
        <p:spPr>
          <a:xfrm>
            <a:off x="6022157" y="3246548"/>
            <a:ext cx="3192669" cy="129377"/>
          </a:xfrm>
          <a:prstGeom prst="rect">
            <a:avLst/>
          </a:prstGeom>
          <a:noFill/>
          <a:ln/>
        </p:spPr>
        <p:txBody>
          <a:bodyPr wrap="none" lIns="0" tIns="0" rIns="0" bIns="0" rtlCol="0" anchor="t"/>
          <a:lstStyle/>
          <a:p>
            <a:pPr algn="l" indent="0" marL="0">
              <a:lnSpc>
                <a:spcPct val="85000"/>
              </a:lnSpc>
              <a:buNone/>
            </a:pPr>
            <a:r>
              <a:rPr lang="en-US" sz="950" dirty="0">
                <a:solidFill>
                  <a:srgbClr val="3B3535"/>
                </a:solidFill>
                <a:latin typeface="Roboto Light" pitchFamily="34" charset="0"/>
                <a:ea typeface="Roboto Light" pitchFamily="34" charset="-122"/>
                <a:cs typeface="Roboto Light" pitchFamily="34" charset="-120"/>
              </a:rPr>
              <a:t>Can be used as-is?</a:t>
            </a:r>
            <a:endParaRPr lang="en-US" sz="950" dirty="0"/>
          </a:p>
        </p:txBody>
      </p:sp>
      <p:sp>
        <p:nvSpPr>
          <p:cNvPr id="10" name="Text 7"/>
          <p:cNvSpPr/>
          <p:nvPr/>
        </p:nvSpPr>
        <p:spPr>
          <a:xfrm>
            <a:off x="6029174" y="3797714"/>
            <a:ext cx="1485819" cy="185623"/>
          </a:xfrm>
          <a:prstGeom prst="rect">
            <a:avLst/>
          </a:prstGeom>
          <a:noFill/>
          <a:ln/>
        </p:spPr>
        <p:txBody>
          <a:bodyPr wrap="none" lIns="0" tIns="0" rIns="0" bIns="0" rtlCol="0" anchor="t"/>
          <a:lstStyle/>
          <a:p>
            <a:pPr algn="l" indent="0" marL="0">
              <a:lnSpc>
                <a:spcPct val="104000"/>
              </a:lnSpc>
              <a:buNone/>
            </a:pPr>
            <a:r>
              <a:rPr lang="en-US" sz="1150" dirty="0">
                <a:solidFill>
                  <a:srgbClr val="3B3535"/>
                </a:solidFill>
                <a:latin typeface="Red Hat Text" pitchFamily="34" charset="0"/>
                <a:ea typeface="Red Hat Text" pitchFamily="34" charset="-122"/>
                <a:cs typeface="Red Hat Text" pitchFamily="34" charset="-120"/>
              </a:rPr>
              <a:t>Record Image</a:t>
            </a:r>
            <a:endParaRPr lang="en-US" sz="1150" dirty="0"/>
          </a:p>
        </p:txBody>
      </p:sp>
      <p:sp>
        <p:nvSpPr>
          <p:cNvPr id="11" name="Text 8"/>
          <p:cNvSpPr/>
          <p:nvPr/>
        </p:nvSpPr>
        <p:spPr>
          <a:xfrm>
            <a:off x="6029174" y="4039473"/>
            <a:ext cx="3192670" cy="129377"/>
          </a:xfrm>
          <a:prstGeom prst="rect">
            <a:avLst/>
          </a:prstGeom>
          <a:noFill/>
          <a:ln/>
        </p:spPr>
        <p:txBody>
          <a:bodyPr wrap="none" lIns="0" tIns="0" rIns="0" bIns="0" rtlCol="0" anchor="t"/>
          <a:lstStyle/>
          <a:p>
            <a:pPr algn="l" indent="0" marL="0">
              <a:lnSpc>
                <a:spcPct val="85000"/>
              </a:lnSpc>
              <a:buNone/>
            </a:pPr>
            <a:r>
              <a:rPr lang="en-US" sz="950" dirty="0">
                <a:solidFill>
                  <a:srgbClr val="3B3535"/>
                </a:solidFill>
                <a:latin typeface="Roboto Light" pitchFamily="34" charset="0"/>
                <a:ea typeface="Roboto Light" pitchFamily="34" charset="-122"/>
                <a:cs typeface="Roboto Light" pitchFamily="34" charset="-120"/>
              </a:rPr>
              <a:t>Capture and analyze item</a:t>
            </a:r>
            <a:endParaRPr lang="en-US" sz="950" dirty="0"/>
          </a:p>
        </p:txBody>
      </p:sp>
      <p:sp>
        <p:nvSpPr>
          <p:cNvPr id="12" name="Text 9"/>
          <p:cNvSpPr/>
          <p:nvPr/>
        </p:nvSpPr>
        <p:spPr>
          <a:xfrm>
            <a:off x="698086" y="4667647"/>
            <a:ext cx="6352718" cy="187623"/>
          </a:xfrm>
          <a:prstGeom prst="rect">
            <a:avLst/>
          </a:prstGeom>
          <a:noFill/>
          <a:ln/>
        </p:spPr>
        <p:txBody>
          <a:bodyPr wrap="none" lIns="0" tIns="0" rIns="0" bIns="0" rtlCol="0" anchor="t"/>
          <a:lstStyle/>
          <a:p>
            <a:pPr algn="l" indent="0" marL="0">
              <a:lnSpc>
                <a:spcPct val="104000"/>
              </a:lnSpc>
              <a:buNone/>
            </a:pPr>
            <a:r>
              <a:rPr lang="en-US" sz="1150" dirty="0">
                <a:solidFill>
                  <a:srgbClr val="1F1E1E"/>
                </a:solidFill>
                <a:latin typeface="Red Hat Text" pitchFamily="34" charset="0"/>
                <a:ea typeface="Red Hat Text" pitchFamily="34" charset="-122"/>
                <a:cs typeface="Red Hat Text" pitchFamily="34" charset="-120"/>
              </a:rPr>
              <a:t>Computer vision — structured assessment</a:t>
            </a:r>
            <a:endParaRPr lang="en-US" sz="1150" dirty="0"/>
          </a:p>
        </p:txBody>
      </p:sp>
      <p:sp>
        <p:nvSpPr>
          <p:cNvPr id="13" name="Text 10"/>
          <p:cNvSpPr/>
          <p:nvPr/>
        </p:nvSpPr>
        <p:spPr>
          <a:xfrm>
            <a:off x="698086" y="4936927"/>
            <a:ext cx="6352718" cy="334764"/>
          </a:xfrm>
          <a:prstGeom prst="rect">
            <a:avLst/>
          </a:prstGeom>
          <a:noFill/>
          <a:ln/>
        </p:spPr>
        <p:txBody>
          <a:bodyPr wrap="square" lIns="0" tIns="0" rIns="0" bIns="0" rtlCol="0" anchor="t">
            <a:normAutofit/>
          </a:bodyPr>
          <a:lstStyle/>
          <a:p>
            <a:pPr algn="l" indent="0" marL="0">
              <a:lnSpc>
                <a:spcPct val="109000"/>
              </a:lnSpc>
              <a:buNone/>
            </a:pPr>
            <a:r>
              <a:rPr lang="en-US" sz="1000" dirty="0">
                <a:solidFill>
                  <a:srgbClr val="3B3535"/>
                </a:solidFill>
                <a:latin typeface="Roboto Light" pitchFamily="34" charset="0"/>
                <a:ea typeface="Roboto Light" pitchFamily="34" charset="-122"/>
                <a:cs typeface="Roboto Light" pitchFamily="34" charset="-120"/>
              </a:rPr>
              <a:t>Image → Vision AI → Structured output: object, category, material, condition, damage severity &amp; location, repairability, structural integrity, safety concerns, visible observations, confidence.</a:t>
            </a:r>
            <a:endParaRPr lang="en-US" sz="1000" dirty="0"/>
          </a:p>
        </p:txBody>
      </p:sp>
      <p:sp>
        <p:nvSpPr>
          <p:cNvPr id="14" name="Shape 11"/>
          <p:cNvSpPr/>
          <p:nvPr/>
        </p:nvSpPr>
        <p:spPr>
          <a:xfrm>
            <a:off x="698086" y="5363567"/>
            <a:ext cx="6352718" cy="545306"/>
          </a:xfrm>
          <a:prstGeom prst="roundRect">
            <a:avLst>
              <a:gd name="adj" fmla="val 3511"/>
            </a:avLst>
          </a:prstGeom>
          <a:solidFill>
            <a:srgbClr val="FAD1D1"/>
          </a:solidFill>
          <a:ln/>
        </p:spPr>
      </p:sp>
      <p:pic>
        <p:nvPicPr>
          <p:cNvPr id="15" name="Image 1" descr="preencoded.png">    </p:cNvPr>
          <p:cNvPicPr>
            <a:picLocks noChangeAspect="1"/>
          </p:cNvPicPr>
          <p:nvPr/>
        </p:nvPicPr>
        <p:blipFill>
          <a:blip r:embed="rId2"/>
          <a:stretch>
            <a:fillRect/>
          </a:stretch>
        </p:blipFill>
        <p:spPr>
          <a:xfrm>
            <a:off x="825678" y="5492353"/>
            <a:ext cx="159540" cy="127595"/>
          </a:xfrm>
          <a:prstGeom prst="rect">
            <a:avLst/>
          </a:prstGeom>
        </p:spPr>
      </p:pic>
      <p:sp>
        <p:nvSpPr>
          <p:cNvPr id="16" name="Text 12"/>
          <p:cNvSpPr/>
          <p:nvPr/>
        </p:nvSpPr>
        <p:spPr>
          <a:xfrm>
            <a:off x="1112810" y="5468838"/>
            <a:ext cx="5810402" cy="334764"/>
          </a:xfrm>
          <a:prstGeom prst="rect">
            <a:avLst/>
          </a:prstGeom>
          <a:noFill/>
          <a:ln/>
        </p:spPr>
        <p:txBody>
          <a:bodyPr wrap="square" lIns="0" tIns="0" rIns="0" bIns="0" rtlCol="0" anchor="t">
            <a:normAutofit/>
          </a:bodyPr>
          <a:lstStyle/>
          <a:p>
            <a:pPr algn="l" indent="0" marL="0">
              <a:lnSpc>
                <a:spcPct val="109000"/>
              </a:lnSpc>
              <a:buNone/>
            </a:pPr>
            <a:r>
              <a:rPr lang="en-US" sz="1000" dirty="0">
                <a:solidFill>
                  <a:srgbClr val="000000"/>
                </a:solidFill>
                <a:latin typeface="Roboto Light" pitchFamily="34" charset="0"/>
                <a:ea typeface="Roboto Light" pitchFamily="34" charset="-122"/>
                <a:cs typeface="Roboto Light" pitchFamily="34" charset="-120"/>
              </a:rPr>
              <a:t>Image-based scores are recommendations — always verify safety/structural integrity with a human when needed.</a:t>
            </a:r>
            <a:endParaRPr lang="en-US" sz="1000" dirty="0"/>
          </a:p>
        </p:txBody>
      </p:sp>
      <p:sp>
        <p:nvSpPr>
          <p:cNvPr id="17" name="Text 13"/>
          <p:cNvSpPr/>
          <p:nvPr/>
        </p:nvSpPr>
        <p:spPr>
          <a:xfrm>
            <a:off x="7368495" y="4667647"/>
            <a:ext cx="4131365" cy="187623"/>
          </a:xfrm>
          <a:prstGeom prst="rect">
            <a:avLst/>
          </a:prstGeom>
          <a:noFill/>
          <a:ln/>
        </p:spPr>
        <p:txBody>
          <a:bodyPr wrap="none" lIns="0" tIns="0" rIns="0" bIns="0" rtlCol="0" anchor="t"/>
          <a:lstStyle/>
          <a:p>
            <a:pPr algn="l" indent="0" marL="0">
              <a:lnSpc>
                <a:spcPct val="104000"/>
              </a:lnSpc>
              <a:buNone/>
            </a:pPr>
            <a:r>
              <a:rPr lang="en-US" sz="1150" dirty="0">
                <a:solidFill>
                  <a:srgbClr val="1F1E1E"/>
                </a:solidFill>
                <a:latin typeface="Red Hat Text" pitchFamily="34" charset="0"/>
                <a:ea typeface="Red Hat Text" pitchFamily="34" charset="-122"/>
                <a:cs typeface="Red Hat Text" pitchFamily="34" charset="-120"/>
              </a:rPr>
              <a:t>DAMAGED CHAIR — Example</a:t>
            </a:r>
            <a:endParaRPr lang="en-US" sz="1150" dirty="0"/>
          </a:p>
        </p:txBody>
      </p:sp>
      <p:sp>
        <p:nvSpPr>
          <p:cNvPr id="18" name="Text 14"/>
          <p:cNvSpPr/>
          <p:nvPr/>
        </p:nvSpPr>
        <p:spPr>
          <a:xfrm>
            <a:off x="7368495" y="4936927"/>
            <a:ext cx="4131365" cy="334764"/>
          </a:xfrm>
          <a:prstGeom prst="rect">
            <a:avLst/>
          </a:prstGeom>
          <a:noFill/>
          <a:ln/>
        </p:spPr>
        <p:txBody>
          <a:bodyPr wrap="square" lIns="0" tIns="0" rIns="0" bIns="0" rtlCol="0" anchor="t">
            <a:normAutofit/>
          </a:bodyPr>
          <a:lstStyle/>
          <a:p>
            <a:pPr algn="l" indent="0" marL="0">
              <a:lnSpc>
                <a:spcPct val="109000"/>
              </a:lnSpc>
              <a:buNone/>
            </a:pPr>
            <a:r>
              <a:rPr lang="en-US" sz="1000" b="1" dirty="0">
                <a:solidFill>
                  <a:srgbClr val="3B3535"/>
                </a:solidFill>
                <a:latin typeface="Roboto Bold" pitchFamily="34" charset="0"/>
                <a:ea typeface="Roboto Bold" pitchFamily="34" charset="-122"/>
                <a:cs typeface="Roboto Bold" pitchFamily="34" charset="-120"/>
              </a:rPr>
              <a:t>Observed:</a:t>
            </a:r>
            <a:pPr algn="l" indent="0" marL="0">
              <a:lnSpc>
                <a:spcPct val="109000"/>
              </a:lnSpc>
              <a:buNone/>
            </a:pPr>
            <a:r>
              <a:rPr lang="en-US" sz="1000" dirty="0">
                <a:solidFill>
                  <a:srgbClr val="3B3535"/>
                </a:solidFill>
                <a:latin typeface="Roboto Light" pitchFamily="34" charset="0"/>
                <a:ea typeface="Roboto Light" pitchFamily="34" charset="-122"/>
                <a:cs typeface="Roboto Light" pitchFamily="34" charset="-120"/>
              </a:rPr>
              <a:t> Major structural break in back/seat; significant damage on right side.</a:t>
            </a:r>
            <a:endParaRPr lang="en-US" sz="1000" dirty="0"/>
          </a:p>
        </p:txBody>
      </p:sp>
      <p:sp>
        <p:nvSpPr>
          <p:cNvPr id="19" name="Text 15"/>
          <p:cNvSpPr/>
          <p:nvPr/>
        </p:nvSpPr>
        <p:spPr>
          <a:xfrm>
            <a:off x="7368495" y="5345113"/>
            <a:ext cx="4131365" cy="922635"/>
          </a:xfrm>
          <a:prstGeom prst="rect">
            <a:avLst/>
          </a:prstGeom>
          <a:noFill/>
          <a:ln/>
        </p:spPr>
        <p:txBody>
          <a:bodyPr wrap="square" lIns="0" tIns="0" rIns="0" bIns="0" rtlCol="0" anchor="t">
            <a:normAutofit/>
          </a:bodyPr>
          <a:lstStyle/>
          <a:p>
            <a:pPr algn="l" marL="203200" indent="-203200">
              <a:lnSpc>
                <a:spcPct val="109000"/>
              </a:lnSpc>
              <a:buSzPct val="100000"/>
              <a:buChar char="•"/>
            </a:pPr>
            <a:r>
              <a:rPr lang="en-US" sz="1000" dirty="0">
                <a:solidFill>
                  <a:srgbClr val="3B3535"/>
                </a:solidFill>
                <a:latin typeface="Roboto Light" pitchFamily="34" charset="0"/>
                <a:ea typeface="Roboto Light" pitchFamily="34" charset="-122"/>
                <a:cs typeface="Roboto Light" pitchFamily="34" charset="-120"/>
              </a:rPr>
              <a:t>Condition — Severely damaged</a:t>
            </a:r>
            <a:endParaRPr lang="en-US" sz="1000" dirty="0"/>
          </a:p>
          <a:p>
            <a:pPr algn="l" marL="203200" indent="-203200">
              <a:lnSpc>
                <a:spcPct val="109000"/>
              </a:lnSpc>
              <a:buSzPct val="100000"/>
              <a:buChar char="•"/>
            </a:pPr>
            <a:r>
              <a:rPr lang="en-US" sz="1000" dirty="0">
                <a:solidFill>
                  <a:srgbClr val="3B3535"/>
                </a:solidFill>
                <a:latin typeface="Roboto Light" pitchFamily="34" charset="0"/>
                <a:ea typeface="Roboto Light" pitchFamily="34" charset="-122"/>
                <a:cs typeface="Roboto Light" pitchFamily="34" charset="-120"/>
              </a:rPr>
              <a:t>Structural integrity — Compromised</a:t>
            </a:r>
            <a:endParaRPr lang="en-US" sz="1000" dirty="0"/>
          </a:p>
          <a:p>
            <a:pPr algn="l" marL="203200" indent="-203200">
              <a:lnSpc>
                <a:spcPct val="109000"/>
              </a:lnSpc>
              <a:buSzPct val="100000"/>
              <a:buChar char="•"/>
            </a:pPr>
            <a:r>
              <a:rPr lang="en-US" sz="1000" dirty="0">
                <a:solidFill>
                  <a:srgbClr val="3B3535"/>
                </a:solidFill>
                <a:latin typeface="Roboto Light" pitchFamily="34" charset="0"/>
                <a:ea typeface="Roboto Light" pitchFamily="34" charset="-122"/>
                <a:cs typeface="Roboto Light" pitchFamily="34" charset="-120"/>
              </a:rPr>
              <a:t>Repairability — Low/Medium (depends on parts)</a:t>
            </a:r>
            <a:endParaRPr lang="en-US" sz="1000" dirty="0"/>
          </a:p>
          <a:p>
            <a:pPr algn="l" marL="203200" indent="-203200">
              <a:lnSpc>
                <a:spcPct val="109000"/>
              </a:lnSpc>
              <a:buSzPct val="100000"/>
              <a:buChar char="•"/>
            </a:pPr>
            <a:r>
              <a:rPr lang="en-US" sz="1000" dirty="0">
                <a:solidFill>
                  <a:srgbClr val="3B3535"/>
                </a:solidFill>
                <a:latin typeface="Roboto Light" pitchFamily="34" charset="0"/>
                <a:ea typeface="Roboto Light" pitchFamily="34" charset="-122"/>
                <a:cs typeface="Roboto Light" pitchFamily="34" charset="-120"/>
              </a:rPr>
              <a:t>Potential action — Recycle OR major repair if replacement components available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086" y="567134"/>
            <a:ext cx="10795524" cy="381298"/>
          </a:xfrm>
          <a:prstGeom prst="rect">
            <a:avLst/>
          </a:prstGeom>
          <a:noFill/>
          <a:ln/>
        </p:spPr>
        <p:txBody>
          <a:bodyPr wrap="none" lIns="0" tIns="0" rIns="0" bIns="0" rtlCol="0" anchor="t"/>
          <a:lstStyle/>
          <a:p>
            <a:pPr algn="l" indent="0" marL="0">
              <a:lnSpc>
                <a:spcPct val="104000"/>
              </a:lnSpc>
              <a:buNone/>
            </a:pPr>
            <a:r>
              <a:rPr lang="en-US" sz="2400" dirty="0">
                <a:solidFill>
                  <a:srgbClr val="1F1E1E"/>
                </a:solidFill>
                <a:latin typeface="Red Hat Text" pitchFamily="34" charset="0"/>
                <a:ea typeface="Red Hat Text" pitchFamily="34" charset="-122"/>
                <a:cs typeface="Red Hat Text" pitchFamily="34" charset="-120"/>
              </a:rPr>
              <a:t>How RAG Works: Policy Search &amp; Knowledge Retrieval</a:t>
            </a:r>
            <a:endParaRPr lang="en-US" sz="2400" dirty="0"/>
          </a:p>
        </p:txBody>
      </p:sp>
      <p:sp>
        <p:nvSpPr>
          <p:cNvPr id="3" name="Text 1"/>
          <p:cNvSpPr/>
          <p:nvPr/>
        </p:nvSpPr>
        <p:spPr>
          <a:xfrm>
            <a:off x="698086" y="982067"/>
            <a:ext cx="10795524" cy="305098"/>
          </a:xfrm>
          <a:prstGeom prst="rect">
            <a:avLst/>
          </a:prstGeom>
          <a:noFill/>
          <a:ln/>
        </p:spPr>
        <p:txBody>
          <a:bodyPr wrap="none" lIns="0" tIns="0" rIns="0" bIns="0" rtlCol="0" anchor="t"/>
          <a:lstStyle/>
          <a:p>
            <a:pPr algn="l" indent="0" marL="0">
              <a:lnSpc>
                <a:spcPct val="104000"/>
              </a:lnSpc>
              <a:buNone/>
            </a:pPr>
            <a:r>
              <a:rPr lang="en-US" sz="1900" dirty="0">
                <a:solidFill>
                  <a:srgbClr val="1F1E1E"/>
                </a:solidFill>
                <a:latin typeface="Red Hat Text" pitchFamily="34" charset="0"/>
                <a:ea typeface="Red Hat Text" pitchFamily="34" charset="-122"/>
                <a:cs typeface="Red Hat Text" pitchFamily="34" charset="-120"/>
              </a:rPr>
              <a:t>Grounded Answers from Organizational Documents</a:t>
            </a:r>
            <a:endParaRPr lang="en-US" sz="1900" dirty="0"/>
          </a:p>
        </p:txBody>
      </p:sp>
      <p:pic>
        <p:nvPicPr>
          <p:cNvPr id="4" name="Image 0" descr="preencoded.png">    </p:cNvPr>
          <p:cNvPicPr>
            <a:picLocks noChangeAspect="1"/>
          </p:cNvPicPr>
          <p:nvPr/>
        </p:nvPicPr>
        <p:blipFill>
          <a:blip r:embed="rId1"/>
          <a:stretch>
            <a:fillRect/>
          </a:stretch>
        </p:blipFill>
        <p:spPr>
          <a:xfrm>
            <a:off x="2903068" y="1413570"/>
            <a:ext cx="6385460" cy="3382268"/>
          </a:xfrm>
          <a:prstGeom prst="rect">
            <a:avLst/>
          </a:prstGeom>
        </p:spPr>
      </p:pic>
      <p:sp>
        <p:nvSpPr>
          <p:cNvPr id="5" name="Text 2"/>
          <p:cNvSpPr/>
          <p:nvPr/>
        </p:nvSpPr>
        <p:spPr>
          <a:xfrm>
            <a:off x="3880104" y="3830868"/>
            <a:ext cx="1485845" cy="185625"/>
          </a:xfrm>
          <a:prstGeom prst="rect">
            <a:avLst/>
          </a:prstGeom>
          <a:noFill/>
          <a:ln/>
        </p:spPr>
        <p:txBody>
          <a:bodyPr wrap="none" lIns="0" tIns="0" rIns="0" bIns="0" rtlCol="0" anchor="t"/>
          <a:lstStyle/>
          <a:p>
            <a:pPr algn="r" indent="0" marL="0">
              <a:lnSpc>
                <a:spcPct val="104000"/>
              </a:lnSpc>
              <a:buNone/>
            </a:pPr>
            <a:r>
              <a:rPr lang="en-US" sz="1150" dirty="0">
                <a:solidFill>
                  <a:srgbClr val="1F1E1E"/>
                </a:solidFill>
                <a:latin typeface="Red Hat Text" pitchFamily="34" charset="0"/>
                <a:ea typeface="Red Hat Text" pitchFamily="34" charset="-122"/>
                <a:cs typeface="Red Hat Text" pitchFamily="34" charset="-120"/>
              </a:rPr>
              <a:t>Upload &amp; Chunk</a:t>
            </a:r>
            <a:endParaRPr lang="en-US" sz="1150" dirty="0"/>
          </a:p>
        </p:txBody>
      </p:sp>
      <p:sp>
        <p:nvSpPr>
          <p:cNvPr id="6" name="Text 3"/>
          <p:cNvSpPr/>
          <p:nvPr/>
        </p:nvSpPr>
        <p:spPr>
          <a:xfrm>
            <a:off x="3674858" y="4072631"/>
            <a:ext cx="1691091" cy="260512"/>
          </a:xfrm>
          <a:prstGeom prst="rect">
            <a:avLst/>
          </a:prstGeom>
          <a:noFill/>
          <a:ln/>
        </p:spPr>
        <p:txBody>
          <a:bodyPr wrap="square" lIns="0" tIns="0" rIns="0" bIns="0" rtlCol="0" anchor="t">
            <a:normAutofit/>
          </a:bodyPr>
          <a:lstStyle/>
          <a:p>
            <a:pPr algn="r" indent="0" marL="0">
              <a:lnSpc>
                <a:spcPct val="86000"/>
              </a:lnSpc>
              <a:buNone/>
            </a:pPr>
            <a:r>
              <a:rPr lang="en-US" sz="950" dirty="0">
                <a:solidFill>
                  <a:srgbClr val="3B3535"/>
                </a:solidFill>
                <a:latin typeface="Roboto Light" pitchFamily="34" charset="0"/>
                <a:ea typeface="Roboto Light" pitchFamily="34" charset="-122"/>
                <a:cs typeface="Roboto Light" pitchFamily="34" charset="-120"/>
              </a:rPr>
              <a:t>Ingest documents and split into searchable chunks.</a:t>
            </a:r>
            <a:endParaRPr lang="en-US" sz="950" dirty="0"/>
          </a:p>
        </p:txBody>
      </p:sp>
      <p:sp>
        <p:nvSpPr>
          <p:cNvPr id="7" name="Text 4"/>
          <p:cNvSpPr/>
          <p:nvPr/>
        </p:nvSpPr>
        <p:spPr>
          <a:xfrm>
            <a:off x="3262610" y="1876044"/>
            <a:ext cx="1485845" cy="185626"/>
          </a:xfrm>
          <a:prstGeom prst="rect">
            <a:avLst/>
          </a:prstGeom>
          <a:noFill/>
          <a:ln/>
        </p:spPr>
        <p:txBody>
          <a:bodyPr wrap="none" lIns="0" tIns="0" rIns="0" bIns="0" rtlCol="0" anchor="t"/>
          <a:lstStyle/>
          <a:p>
            <a:pPr algn="r" indent="0" marL="0">
              <a:lnSpc>
                <a:spcPct val="104000"/>
              </a:lnSpc>
              <a:buNone/>
            </a:pPr>
            <a:r>
              <a:rPr lang="en-US" sz="1150" dirty="0">
                <a:solidFill>
                  <a:srgbClr val="1F1E1E"/>
                </a:solidFill>
                <a:latin typeface="Red Hat Text" pitchFamily="34" charset="0"/>
                <a:ea typeface="Red Hat Text" pitchFamily="34" charset="-122"/>
                <a:cs typeface="Red Hat Text" pitchFamily="34" charset="-120"/>
              </a:rPr>
              <a:t>Retrieve Relevant Info</a:t>
            </a:r>
            <a:endParaRPr lang="en-US" sz="1150" dirty="0"/>
          </a:p>
        </p:txBody>
      </p:sp>
      <p:sp>
        <p:nvSpPr>
          <p:cNvPr id="8" name="Text 5"/>
          <p:cNvSpPr/>
          <p:nvPr/>
        </p:nvSpPr>
        <p:spPr>
          <a:xfrm>
            <a:off x="3057364" y="2117806"/>
            <a:ext cx="1691091" cy="260512"/>
          </a:xfrm>
          <a:prstGeom prst="rect">
            <a:avLst/>
          </a:prstGeom>
          <a:noFill/>
          <a:ln/>
        </p:spPr>
        <p:txBody>
          <a:bodyPr wrap="square" lIns="0" tIns="0" rIns="0" bIns="0" rtlCol="0" anchor="t">
            <a:normAutofit/>
          </a:bodyPr>
          <a:lstStyle/>
          <a:p>
            <a:pPr algn="r" indent="0" marL="0">
              <a:lnSpc>
                <a:spcPct val="86000"/>
              </a:lnSpc>
              <a:buNone/>
            </a:pPr>
            <a:r>
              <a:rPr lang="en-US" sz="950" dirty="0">
                <a:solidFill>
                  <a:srgbClr val="3B3535"/>
                </a:solidFill>
                <a:latin typeface="Roboto Light" pitchFamily="34" charset="0"/>
                <a:ea typeface="Roboto Light" pitchFamily="34" charset="-122"/>
                <a:cs typeface="Roboto Light" pitchFamily="34" charset="-120"/>
              </a:rPr>
              <a:t>Find passages that match the user question.</a:t>
            </a:r>
            <a:endParaRPr lang="en-US" sz="950" dirty="0"/>
          </a:p>
        </p:txBody>
      </p:sp>
      <p:sp>
        <p:nvSpPr>
          <p:cNvPr id="9" name="Text 6"/>
          <p:cNvSpPr/>
          <p:nvPr/>
        </p:nvSpPr>
        <p:spPr>
          <a:xfrm>
            <a:off x="6846530" y="1690418"/>
            <a:ext cx="1691092" cy="371251"/>
          </a:xfrm>
          <a:prstGeom prst="rect">
            <a:avLst/>
          </a:prstGeom>
          <a:noFill/>
          <a:ln/>
        </p:spPr>
        <p:txBody>
          <a:bodyPr wrap="square" lIns="0" tIns="0" rIns="0" bIns="0" rtlCol="0" anchor="t">
            <a:normAutofit/>
          </a:bodyPr>
          <a:lstStyle/>
          <a:p>
            <a:pPr algn="l" indent="0" marL="0">
              <a:lnSpc>
                <a:spcPct val="104000"/>
              </a:lnSpc>
              <a:buNone/>
            </a:pPr>
            <a:r>
              <a:rPr lang="en-US" sz="1150" dirty="0">
                <a:solidFill>
                  <a:srgbClr val="1F1E1E"/>
                </a:solidFill>
                <a:latin typeface="Red Hat Text" pitchFamily="34" charset="0"/>
                <a:ea typeface="Red Hat Text" pitchFamily="34" charset="-122"/>
                <a:cs typeface="Red Hat Text" pitchFamily="34" charset="-120"/>
              </a:rPr>
              <a:t>Generate Grounded Answer</a:t>
            </a:r>
            <a:endParaRPr lang="en-US" sz="1150" dirty="0"/>
          </a:p>
        </p:txBody>
      </p:sp>
      <p:sp>
        <p:nvSpPr>
          <p:cNvPr id="10" name="Text 7"/>
          <p:cNvSpPr/>
          <p:nvPr/>
        </p:nvSpPr>
        <p:spPr>
          <a:xfrm>
            <a:off x="6846530" y="2117806"/>
            <a:ext cx="1691092" cy="260512"/>
          </a:xfrm>
          <a:prstGeom prst="rect">
            <a:avLst/>
          </a:prstGeom>
          <a:noFill/>
          <a:ln/>
        </p:spPr>
        <p:txBody>
          <a:bodyPr wrap="square" lIns="0" tIns="0" rIns="0" bIns="0" rtlCol="0" anchor="t">
            <a:normAutofit/>
          </a:bodyPr>
          <a:lstStyle/>
          <a:p>
            <a:pPr algn="l" indent="0" marL="0">
              <a:lnSpc>
                <a:spcPct val="86000"/>
              </a:lnSpc>
              <a:buNone/>
            </a:pPr>
            <a:r>
              <a:rPr lang="en-US" sz="950" dirty="0">
                <a:solidFill>
                  <a:srgbClr val="3B3535"/>
                </a:solidFill>
                <a:latin typeface="Roboto Light" pitchFamily="34" charset="0"/>
                <a:ea typeface="Roboto Light" pitchFamily="34" charset="-122"/>
                <a:cs typeface="Roboto Light" pitchFamily="34" charset="-120"/>
              </a:rPr>
              <a:t>Compose response using retrieved context only.</a:t>
            </a:r>
            <a:endParaRPr lang="en-US" sz="950" dirty="0"/>
          </a:p>
        </p:txBody>
      </p:sp>
      <p:sp>
        <p:nvSpPr>
          <p:cNvPr id="11" name="Text 8"/>
          <p:cNvSpPr/>
          <p:nvPr/>
        </p:nvSpPr>
        <p:spPr>
          <a:xfrm>
            <a:off x="7442973" y="3830978"/>
            <a:ext cx="1691091" cy="371251"/>
          </a:xfrm>
          <a:prstGeom prst="rect">
            <a:avLst/>
          </a:prstGeom>
          <a:noFill/>
          <a:ln/>
        </p:spPr>
        <p:txBody>
          <a:bodyPr wrap="square" lIns="0" tIns="0" rIns="0" bIns="0" rtlCol="0" anchor="t">
            <a:normAutofit/>
          </a:bodyPr>
          <a:lstStyle/>
          <a:p>
            <a:pPr algn="l" indent="0" marL="0">
              <a:lnSpc>
                <a:spcPct val="104000"/>
              </a:lnSpc>
              <a:buNone/>
            </a:pPr>
            <a:r>
              <a:rPr lang="en-US" sz="1150" dirty="0">
                <a:solidFill>
                  <a:srgbClr val="1F1E1E"/>
                </a:solidFill>
                <a:latin typeface="Red Hat Text" pitchFamily="34" charset="0"/>
                <a:ea typeface="Red Hat Text" pitchFamily="34" charset="-122"/>
                <a:cs typeface="Red Hat Text" pitchFamily="34" charset="-120"/>
              </a:rPr>
              <a:t>Confirm &amp; Prevent Hallucination</a:t>
            </a:r>
            <a:endParaRPr lang="en-US" sz="1150" dirty="0"/>
          </a:p>
        </p:txBody>
      </p:sp>
      <p:sp>
        <p:nvSpPr>
          <p:cNvPr id="12" name="Text 9"/>
          <p:cNvSpPr/>
          <p:nvPr/>
        </p:nvSpPr>
        <p:spPr>
          <a:xfrm>
            <a:off x="7442973" y="4258366"/>
            <a:ext cx="1691091" cy="260512"/>
          </a:xfrm>
          <a:prstGeom prst="rect">
            <a:avLst/>
          </a:prstGeom>
          <a:noFill/>
          <a:ln/>
        </p:spPr>
        <p:txBody>
          <a:bodyPr wrap="square" lIns="0" tIns="0" rIns="0" bIns="0" rtlCol="0" anchor="t">
            <a:normAutofit/>
          </a:bodyPr>
          <a:lstStyle/>
          <a:p>
            <a:pPr algn="l" indent="0" marL="0">
              <a:lnSpc>
                <a:spcPct val="86000"/>
              </a:lnSpc>
              <a:buNone/>
            </a:pPr>
            <a:r>
              <a:rPr lang="en-US" sz="950" dirty="0">
                <a:solidFill>
                  <a:srgbClr val="3B3535"/>
                </a:solidFill>
                <a:latin typeface="Roboto Light" pitchFamily="34" charset="0"/>
                <a:ea typeface="Roboto Light" pitchFamily="34" charset="-122"/>
                <a:cs typeface="Roboto Light" pitchFamily="34" charset="-120"/>
              </a:rPr>
              <a:t>Verify source availability before answering.</a:t>
            </a:r>
            <a:endParaRPr lang="en-US" sz="950" dirty="0"/>
          </a:p>
        </p:txBody>
      </p:sp>
      <p:sp>
        <p:nvSpPr>
          <p:cNvPr id="13" name="Text 10"/>
          <p:cNvSpPr/>
          <p:nvPr/>
        </p:nvSpPr>
        <p:spPr>
          <a:xfrm>
            <a:off x="698086" y="4922242"/>
            <a:ext cx="10795524" cy="190599"/>
          </a:xfrm>
          <a:prstGeom prst="rect">
            <a:avLst/>
          </a:prstGeom>
          <a:noFill/>
          <a:ln/>
        </p:spPr>
        <p:txBody>
          <a:bodyPr wrap="none" lIns="0" tIns="0" rIns="0" bIns="0" rtlCol="0" anchor="t"/>
          <a:lstStyle/>
          <a:p>
            <a:pPr algn="l" indent="0" marL="0">
              <a:lnSpc>
                <a:spcPct val="104000"/>
              </a:lnSpc>
              <a:buNone/>
            </a:pPr>
            <a:r>
              <a:rPr lang="en-US" sz="1200" dirty="0">
                <a:solidFill>
                  <a:srgbClr val="1F1E1E"/>
                </a:solidFill>
                <a:latin typeface="Red Hat Text" pitchFamily="34" charset="0"/>
                <a:ea typeface="Red Hat Text" pitchFamily="34" charset="-122"/>
                <a:cs typeface="Red Hat Text" pitchFamily="34" charset="-120"/>
              </a:rPr>
              <a:t>Example:</a:t>
            </a:r>
            <a:endParaRPr lang="en-US" sz="1200" dirty="0"/>
          </a:p>
        </p:txBody>
      </p:sp>
      <p:sp>
        <p:nvSpPr>
          <p:cNvPr id="14" name="Text 11"/>
          <p:cNvSpPr/>
          <p:nvPr/>
        </p:nvSpPr>
        <p:spPr>
          <a:xfrm>
            <a:off x="698086" y="5239246"/>
            <a:ext cx="10795524" cy="437059"/>
          </a:xfrm>
          <a:prstGeom prst="rect">
            <a:avLst/>
          </a:prstGeom>
          <a:noFill/>
          <a:ln/>
        </p:spPr>
        <p:txBody>
          <a:bodyPr wrap="square" lIns="0" tIns="0" rIns="0" bIns="0" rtlCol="0" anchor="t"/>
          <a:lstStyle/>
          <a:p>
            <a:pPr algn="l" indent="0" marL="0">
              <a:lnSpc>
                <a:spcPct val="110000"/>
              </a:lnSpc>
              <a:spcAft>
                <a:spcPts val="700"/>
              </a:spcAft>
              <a:buNone/>
            </a:pPr>
            <a:r>
              <a:rPr lang="en-US" sz="1000" dirty="0">
                <a:solidFill>
                  <a:srgbClr val="3B3535"/>
                </a:solidFill>
                <a:latin typeface="Roboto Light" pitchFamily="34" charset="0"/>
                <a:ea typeface="Roboto Light" pitchFamily="34" charset="-122"/>
                <a:cs typeface="Roboto Light" pitchFamily="34" charset="-120"/>
              </a:rPr>
              <a:t>User: "Who approves the transfer of unused computers?"</a:t>
            </a:r>
            <a:endParaRPr lang="en-US" sz="1000" dirty="0"/>
          </a:p>
          <a:p>
            <a:pPr algn="l" indent="0" marL="0">
              <a:lnSpc>
                <a:spcPct val="110000"/>
              </a:lnSpc>
              <a:buNone/>
            </a:pPr>
            <a:r>
              <a:rPr lang="en-US" sz="1000" dirty="0">
                <a:solidFill>
                  <a:srgbClr val="3B3535"/>
                </a:solidFill>
                <a:latin typeface="Roboto Light" pitchFamily="34" charset="0"/>
                <a:ea typeface="Roboto Light" pitchFamily="34" charset="-122"/>
                <a:cs typeface="Roboto Light" pitchFamily="34" charset="-120"/>
              </a:rPr>
              <a:t>Result: Answer + Sources from organizational policies</a:t>
            </a:r>
            <a:endParaRPr lang="en-US" sz="1000" dirty="0"/>
          </a:p>
        </p:txBody>
      </p:sp>
      <p:sp>
        <p:nvSpPr>
          <p:cNvPr id="15" name="Text 12"/>
          <p:cNvSpPr/>
          <p:nvPr/>
        </p:nvSpPr>
        <p:spPr>
          <a:xfrm>
            <a:off x="698086" y="5802709"/>
            <a:ext cx="10795524" cy="190599"/>
          </a:xfrm>
          <a:prstGeom prst="rect">
            <a:avLst/>
          </a:prstGeom>
          <a:noFill/>
          <a:ln/>
        </p:spPr>
        <p:txBody>
          <a:bodyPr wrap="none" lIns="0" tIns="0" rIns="0" bIns="0" rtlCol="0" anchor="t"/>
          <a:lstStyle/>
          <a:p>
            <a:pPr algn="l" indent="0" marL="0">
              <a:lnSpc>
                <a:spcPct val="104000"/>
              </a:lnSpc>
              <a:buNone/>
            </a:pPr>
            <a:r>
              <a:rPr lang="en-US" sz="1200" dirty="0">
                <a:solidFill>
                  <a:srgbClr val="1F1E1E"/>
                </a:solidFill>
                <a:latin typeface="Red Hat Text" pitchFamily="34" charset="0"/>
                <a:ea typeface="Red Hat Text" pitchFamily="34" charset="-122"/>
                <a:cs typeface="Red Hat Text" pitchFamily="34" charset="-120"/>
              </a:rPr>
              <a:t>Key Benefit:</a:t>
            </a:r>
            <a:endParaRPr lang="en-US" sz="1200" dirty="0"/>
          </a:p>
        </p:txBody>
      </p:sp>
      <p:sp>
        <p:nvSpPr>
          <p:cNvPr id="16" name="Text 13"/>
          <p:cNvSpPr/>
          <p:nvPr/>
        </p:nvSpPr>
        <p:spPr>
          <a:xfrm>
            <a:off x="698086" y="6119713"/>
            <a:ext cx="11405108" cy="171152"/>
          </a:xfrm>
          <a:prstGeom prst="rect">
            <a:avLst/>
          </a:prstGeom>
          <a:noFill/>
          <a:ln/>
        </p:spPr>
        <p:txBody>
          <a:bodyPr wrap="none" lIns="0" tIns="0" rIns="0" bIns="0" rtlCol="0" anchor="t"/>
          <a:lstStyle/>
          <a:p>
            <a:pPr algn="l" indent="0" marL="0">
              <a:lnSpc>
                <a:spcPct val="110000"/>
              </a:lnSpc>
              <a:buNone/>
            </a:pPr>
            <a:r>
              <a:rPr lang="en-US" sz="1000" dirty="0">
                <a:solidFill>
                  <a:srgbClr val="3B3535"/>
                </a:solidFill>
                <a:latin typeface="Roboto Light" pitchFamily="34" charset="0"/>
                <a:ea typeface="Roboto Light" pitchFamily="34" charset="-122"/>
                <a:cs typeface="Roboto Light" pitchFamily="34" charset="-120"/>
              </a:rPr>
              <a:t>Users can search organizational policies in natural language instead of manually reading multiple documents.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8086" y="734020"/>
            <a:ext cx="10795524" cy="498673"/>
          </a:xfrm>
          <a:prstGeom prst="rect">
            <a:avLst/>
          </a:prstGeom>
          <a:noFill/>
          <a:ln/>
        </p:spPr>
        <p:txBody>
          <a:bodyPr wrap="none" lIns="0" tIns="0" rIns="0" bIns="0" rtlCol="0" anchor="t"/>
          <a:lstStyle/>
          <a:p>
            <a:pPr algn="l" indent="0" marL="0">
              <a:lnSpc>
                <a:spcPct val="104000"/>
              </a:lnSpc>
              <a:buNone/>
            </a:pPr>
            <a:r>
              <a:rPr lang="en-US" sz="3100" dirty="0">
                <a:solidFill>
                  <a:srgbClr val="1F1E1E"/>
                </a:solidFill>
                <a:latin typeface="Red Hat Text" pitchFamily="34" charset="0"/>
                <a:ea typeface="Red Hat Text" pitchFamily="34" charset="-122"/>
                <a:cs typeface="Red Hat Text" pitchFamily="34" charset="-120"/>
              </a:rPr>
              <a:t>Where AI actually fits</a:t>
            </a:r>
            <a:endParaRPr lang="en-US" sz="31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8086" y="1520924"/>
            <a:ext cx="423852" cy="423862"/>
          </a:xfrm>
          <a:prstGeom prst="rect">
            <a:avLst/>
          </a:prstGeom>
        </p:spPr>
      </p:pic>
      <p:sp>
        <p:nvSpPr>
          <p:cNvPr id="4" name="Text 1"/>
          <p:cNvSpPr/>
          <p:nvPr/>
        </p:nvSpPr>
        <p:spPr>
          <a:xfrm>
            <a:off x="698086" y="2124869"/>
            <a:ext cx="5307673" cy="249337"/>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Red Hat Text" pitchFamily="34" charset="0"/>
                <a:ea typeface="Red Hat Text" pitchFamily="34" charset="-122"/>
                <a:cs typeface="Red Hat Text" pitchFamily="34" charset="-120"/>
              </a:rPr>
              <a:t>NLP / LLM</a:t>
            </a:r>
            <a:endParaRPr lang="en-US" sz="1550" dirty="0"/>
          </a:p>
        </p:txBody>
      </p:sp>
      <p:sp>
        <p:nvSpPr>
          <p:cNvPr id="5" name="Text 2"/>
          <p:cNvSpPr/>
          <p:nvPr/>
        </p:nvSpPr>
        <p:spPr>
          <a:xfrm>
            <a:off x="698086" y="2460625"/>
            <a:ext cx="5307673" cy="501848"/>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Input: natural request (e.g. “I need 10 laptops with 16GB RAM…”) → Output: structured requirements the matching engine can process.</a:t>
            </a:r>
            <a:endParaRPr lang="en-US" sz="13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5837" y="1520924"/>
            <a:ext cx="423852" cy="423862"/>
          </a:xfrm>
          <a:prstGeom prst="rect">
            <a:avLst/>
          </a:prstGeom>
        </p:spPr>
      </p:pic>
      <p:sp>
        <p:nvSpPr>
          <p:cNvPr id="7" name="Text 3"/>
          <p:cNvSpPr/>
          <p:nvPr/>
        </p:nvSpPr>
        <p:spPr>
          <a:xfrm>
            <a:off x="6185837" y="2124869"/>
            <a:ext cx="5307773" cy="249337"/>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Red Hat Text" pitchFamily="34" charset="0"/>
                <a:ea typeface="Red Hat Text" pitchFamily="34" charset="-122"/>
                <a:cs typeface="Red Hat Text" pitchFamily="34" charset="-120"/>
              </a:rPr>
              <a:t>COMPUTER VISION</a:t>
            </a:r>
            <a:endParaRPr lang="en-US" sz="1550" dirty="0"/>
          </a:p>
        </p:txBody>
      </p:sp>
      <p:sp>
        <p:nvSpPr>
          <p:cNvPr id="8" name="Text 4"/>
          <p:cNvSpPr/>
          <p:nvPr/>
        </p:nvSpPr>
        <p:spPr>
          <a:xfrm>
            <a:off x="6185837" y="2460625"/>
            <a:ext cx="5307773" cy="752773"/>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Input: photo of unused/damaged resource → Output: object, material, condition, damage evidence and repairability signals. Human verification remains available.</a:t>
            </a:r>
            <a:endParaRPr lang="en-US" sz="13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8086" y="3501628"/>
            <a:ext cx="423852" cy="423862"/>
          </a:xfrm>
          <a:prstGeom prst="rect">
            <a:avLst/>
          </a:prstGeom>
        </p:spPr>
      </p:pic>
      <p:sp>
        <p:nvSpPr>
          <p:cNvPr id="10" name="Text 5"/>
          <p:cNvSpPr/>
          <p:nvPr/>
        </p:nvSpPr>
        <p:spPr>
          <a:xfrm>
            <a:off x="698086" y="4105573"/>
            <a:ext cx="5307673" cy="249337"/>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Red Hat Text" pitchFamily="34" charset="0"/>
                <a:ea typeface="Red Hat Text" pitchFamily="34" charset="-122"/>
                <a:cs typeface="Red Hat Text" pitchFamily="34" charset="-120"/>
              </a:rPr>
              <a:t>RAG — ORGANISATION KNOWLEDGE</a:t>
            </a:r>
            <a:endParaRPr lang="en-US" sz="1550" dirty="0"/>
          </a:p>
        </p:txBody>
      </p:sp>
      <p:sp>
        <p:nvSpPr>
          <p:cNvPr id="11" name="Text 6"/>
          <p:cNvSpPr/>
          <p:nvPr/>
        </p:nvSpPr>
        <p:spPr>
          <a:xfrm>
            <a:off x="698086" y="4441329"/>
            <a:ext cx="5307673" cy="752773"/>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Documents (policies, manuals, transfer rules) → Chunking → Embeddings → Retrieval → LLM → Grounded answer + source. If no policy found, report absence; do not fabricate.</a:t>
            </a:r>
            <a:endParaRPr lang="en-US" sz="13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85837" y="3501628"/>
            <a:ext cx="423852" cy="423862"/>
          </a:xfrm>
          <a:prstGeom prst="rect">
            <a:avLst/>
          </a:prstGeom>
        </p:spPr>
      </p:pic>
      <p:sp>
        <p:nvSpPr>
          <p:cNvPr id="13" name="Text 7"/>
          <p:cNvSpPr/>
          <p:nvPr/>
        </p:nvSpPr>
        <p:spPr>
          <a:xfrm>
            <a:off x="6185837" y="4105573"/>
            <a:ext cx="5307773" cy="249337"/>
          </a:xfrm>
          <a:prstGeom prst="rect">
            <a:avLst/>
          </a:prstGeom>
          <a:noFill/>
          <a:ln/>
        </p:spPr>
        <p:txBody>
          <a:bodyPr wrap="none" lIns="0" tIns="0" rIns="0" bIns="0" rtlCol="0" anchor="t"/>
          <a:lstStyle/>
          <a:p>
            <a:pPr algn="l" indent="0" marL="0">
              <a:lnSpc>
                <a:spcPct val="104000"/>
              </a:lnSpc>
              <a:buNone/>
            </a:pPr>
            <a:r>
              <a:rPr lang="en-US" sz="1550" dirty="0">
                <a:solidFill>
                  <a:srgbClr val="3B3535"/>
                </a:solidFill>
                <a:latin typeface="Red Hat Text" pitchFamily="34" charset="0"/>
                <a:ea typeface="Red Hat Text" pitchFamily="34" charset="-122"/>
                <a:cs typeface="Red Hat Text" pitchFamily="34" charset="-120"/>
              </a:rPr>
              <a:t>DECISION ENGINE</a:t>
            </a:r>
            <a:endParaRPr lang="en-US" sz="1550" dirty="0"/>
          </a:p>
        </p:txBody>
      </p:sp>
      <p:sp>
        <p:nvSpPr>
          <p:cNvPr id="14" name="Text 8"/>
          <p:cNvSpPr/>
          <p:nvPr/>
        </p:nvSpPr>
        <p:spPr>
          <a:xfrm>
            <a:off x="6185837" y="4441329"/>
            <a:ext cx="5307773" cy="752773"/>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Combines hard constraints (compatibility, quantity, availability) and contextual factors (condition, utilisation, location, useful life) to produce an explained recommendation for human approval.</a:t>
            </a:r>
            <a:endParaRPr lang="en-US" sz="1300" dirty="0"/>
          </a:p>
        </p:txBody>
      </p:sp>
      <p:sp>
        <p:nvSpPr>
          <p:cNvPr id="15" name="Shape 9"/>
          <p:cNvSpPr/>
          <p:nvPr/>
        </p:nvSpPr>
        <p:spPr>
          <a:xfrm>
            <a:off x="698086" y="5398591"/>
            <a:ext cx="10795524" cy="19050"/>
          </a:xfrm>
          <a:prstGeom prst="roundRect">
            <a:avLst>
              <a:gd name="adj" fmla="val 49999"/>
            </a:avLst>
          </a:prstGeom>
          <a:solidFill>
            <a:srgbClr val="3B3535">
              <a:alpha val="50000"/>
            </a:srgbClr>
          </a:solidFill>
          <a:ln/>
        </p:spPr>
      </p:sp>
      <p:sp>
        <p:nvSpPr>
          <p:cNvPr id="16" name="Text 10"/>
          <p:cNvSpPr/>
          <p:nvPr/>
        </p:nvSpPr>
        <p:spPr>
          <a:xfrm>
            <a:off x="698086" y="5622131"/>
            <a:ext cx="10795524" cy="501848"/>
          </a:xfrm>
          <a:prstGeom prst="rect">
            <a:avLst/>
          </a:prstGeom>
          <a:noFill/>
          <a:ln/>
        </p:spPr>
        <p:txBody>
          <a:bodyPr wrap="square" lIns="0" tIns="0" rIns="0" bIns="0" rtlCol="0" anchor="t">
            <a:normAutofit/>
          </a:bodyPr>
          <a:lstStyle/>
          <a:p>
            <a:pPr algn="l" indent="0" marL="0">
              <a:lnSpc>
                <a:spcPct val="123000"/>
              </a:lnSpc>
              <a:buNone/>
            </a:pPr>
            <a:r>
              <a:rPr lang="en-US" sz="1300" dirty="0">
                <a:solidFill>
                  <a:srgbClr val="3B3535"/>
                </a:solidFill>
                <a:latin typeface="Roboto Light" pitchFamily="34" charset="0"/>
                <a:ea typeface="Roboto Light" pitchFamily="34" charset="-122"/>
                <a:cs typeface="Roboto Light" pitchFamily="34" charset="-120"/>
              </a:rPr>
              <a:t>Data flows: Excel • CSV • Images • PDFs • User requests ↓ RESOURCE INTELLIGENCE ↓ NLP + VISION + RAG + MATCHING ↓ EXPLAINED RECOMMENDATION ↓ HUMAN APPROVAL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8086" y="853281"/>
            <a:ext cx="10795524" cy="440035"/>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ed Hat Text" pitchFamily="34" charset="0"/>
                <a:ea typeface="Red Hat Text" pitchFamily="34" charset="-122"/>
                <a:cs typeface="Red Hat Text" pitchFamily="34" charset="-120"/>
              </a:rPr>
              <a:t>Prototype: from idea to working system</a:t>
            </a:r>
            <a:endParaRPr lang="en-US" sz="2750" dirty="0"/>
          </a:p>
        </p:txBody>
      </p:sp>
      <p:sp>
        <p:nvSpPr>
          <p:cNvPr id="3" name="Text 1"/>
          <p:cNvSpPr/>
          <p:nvPr/>
        </p:nvSpPr>
        <p:spPr>
          <a:xfrm>
            <a:off x="698086" y="2166045"/>
            <a:ext cx="5215303" cy="219968"/>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Red Hat Text" pitchFamily="34" charset="0"/>
                <a:ea typeface="Red Hat Text" pitchFamily="34" charset="-122"/>
                <a:cs typeface="Red Hat Text" pitchFamily="34" charset="-120"/>
              </a:rPr>
              <a:t>Resource Match demo</a:t>
            </a:r>
            <a:endParaRPr lang="en-US" sz="1350" dirty="0"/>
          </a:p>
        </p:txBody>
      </p:sp>
      <p:sp>
        <p:nvSpPr>
          <p:cNvPr id="4" name="Text 2"/>
          <p:cNvSpPr/>
          <p:nvPr/>
        </p:nvSpPr>
        <p:spPr>
          <a:xfrm>
            <a:off x="698086" y="2498130"/>
            <a:ext cx="5824888" cy="209451"/>
          </a:xfrm>
          <a:prstGeom prst="rect">
            <a:avLst/>
          </a:prstGeom>
          <a:noFill/>
          <a:ln/>
        </p:spPr>
        <p:txBody>
          <a:bodyPr wrap="none" lIns="0" tIns="0" rIns="0" bIns="0" rtlCol="0" anchor="t"/>
          <a:lstStyle/>
          <a:p>
            <a:pPr algn="l" indent="0" marL="0">
              <a:lnSpc>
                <a:spcPct val="117000"/>
              </a:lnSpc>
              <a:buNone/>
            </a:pPr>
            <a:r>
              <a:rPr lang="en-US" sz="1150" b="1" dirty="0">
                <a:solidFill>
                  <a:srgbClr val="3B3535"/>
                </a:solidFill>
                <a:latin typeface="Roboto Bold" pitchFamily="34" charset="0"/>
                <a:ea typeface="Roboto Bold" pitchFamily="34" charset="-122"/>
                <a:cs typeface="Roboto Bold" pitchFamily="34" charset="-120"/>
              </a:rPr>
              <a:t>Scenario:</a:t>
            </a:r>
            <a:pPr algn="l" indent="0" marL="0">
              <a:lnSpc>
                <a:spcPct val="117000"/>
              </a:lnSpc>
              <a:buNone/>
            </a:pPr>
            <a:r>
              <a:rPr lang="en-US" sz="1150" dirty="0">
                <a:solidFill>
                  <a:srgbClr val="3B3535"/>
                </a:solidFill>
                <a:latin typeface="Roboto Light" pitchFamily="34" charset="0"/>
                <a:ea typeface="Roboto Light" pitchFamily="34" charset="-122"/>
                <a:cs typeface="Roboto Light" pitchFamily="34" charset="-120"/>
              </a:rPr>
              <a:t> AI Lab needs 10 computers</a:t>
            </a:r>
            <a:endParaRPr lang="en-US" sz="1150" dirty="0"/>
          </a:p>
        </p:txBody>
      </p:sp>
      <p:sp>
        <p:nvSpPr>
          <p:cNvPr id="5" name="Text 3"/>
          <p:cNvSpPr/>
          <p:nvPr/>
        </p:nvSpPr>
        <p:spPr>
          <a:xfrm>
            <a:off x="698086" y="2808486"/>
            <a:ext cx="5215303" cy="1204020"/>
          </a:xfrm>
          <a:prstGeom prst="rect">
            <a:avLst/>
          </a:prstGeom>
          <a:noFill/>
          <a:ln/>
        </p:spPr>
        <p:txBody>
          <a:bodyPr wrap="square" lIns="0" tIns="0" rIns="0" bIns="0" rtlCol="0" anchor="t">
            <a:normAutofit/>
          </a:bodyPr>
          <a:lstStyle/>
          <a:p>
            <a:pPr algn="l" marL="233680" indent="-233680">
              <a:lnSpc>
                <a:spcPct val="117000"/>
              </a:lnSpc>
              <a:buSzPct val="100000"/>
              <a:buFont typeface="+mj-lt"/>
              <a:buAutoNum type="arabicPeriod" startAt="1"/>
            </a:pPr>
            <a:r>
              <a:rPr lang="en-US" sz="1150" dirty="0">
                <a:solidFill>
                  <a:srgbClr val="3B3535"/>
                </a:solidFill>
                <a:latin typeface="Roboto Light" pitchFamily="34" charset="0"/>
                <a:ea typeface="Roboto Light" pitchFamily="34" charset="-122"/>
                <a:cs typeface="Roboto Light" pitchFamily="34" charset="-120"/>
              </a:rPr>
              <a:t>Parse requirements (NLP)</a:t>
            </a:r>
            <a:endParaRPr lang="en-US" sz="1150" dirty="0"/>
          </a:p>
          <a:p>
            <a:pPr algn="l" marL="233680" indent="-233680">
              <a:lnSpc>
                <a:spcPct val="117000"/>
              </a:lnSpc>
              <a:buSzPct val="100000"/>
              <a:buFont typeface="+mj-lt"/>
              <a:buAutoNum type="arabicPeriod" startAt="2"/>
            </a:pPr>
            <a:r>
              <a:rPr lang="en-US" sz="1150" dirty="0">
                <a:solidFill>
                  <a:srgbClr val="3B3535"/>
                </a:solidFill>
                <a:latin typeface="Roboto Light" pitchFamily="34" charset="0"/>
                <a:ea typeface="Roboto Light" pitchFamily="34" charset="-122"/>
                <a:cs typeface="Roboto Light" pitchFamily="34" charset="-120"/>
              </a:rPr>
              <a:t>Search inventory (records &amp; images)</a:t>
            </a:r>
            <a:endParaRPr lang="en-US" sz="1150" dirty="0"/>
          </a:p>
          <a:p>
            <a:pPr algn="l" marL="233680" indent="-233680">
              <a:lnSpc>
                <a:spcPct val="117000"/>
              </a:lnSpc>
              <a:buSzPct val="100000"/>
              <a:buFont typeface="+mj-lt"/>
              <a:buAutoNum type="arabicPeriod" startAt="3"/>
            </a:pPr>
            <a:r>
              <a:rPr lang="en-US" sz="1150" dirty="0">
                <a:solidFill>
                  <a:srgbClr val="3B3535"/>
                </a:solidFill>
                <a:latin typeface="Roboto Light" pitchFamily="34" charset="0"/>
                <a:ea typeface="Roboto Light" pitchFamily="34" charset="-122"/>
                <a:cs typeface="Roboto Light" pitchFamily="34" charset="-120"/>
              </a:rPr>
              <a:t>Check compatibility (deterministic)</a:t>
            </a:r>
            <a:endParaRPr lang="en-US" sz="1150" dirty="0"/>
          </a:p>
          <a:p>
            <a:pPr algn="l" marL="233680" indent="-233680">
              <a:lnSpc>
                <a:spcPct val="117000"/>
              </a:lnSpc>
              <a:buSzPct val="100000"/>
              <a:buFont typeface="+mj-lt"/>
              <a:buAutoNum type="arabicPeriod" startAt="4"/>
            </a:pPr>
            <a:r>
              <a:rPr lang="en-US" sz="1150" dirty="0">
                <a:solidFill>
                  <a:srgbClr val="3B3535"/>
                </a:solidFill>
                <a:latin typeface="Roboto Light" pitchFamily="34" charset="0"/>
                <a:ea typeface="Roboto Light" pitchFamily="34" charset="-122"/>
                <a:cs typeface="Roboto Light" pitchFamily="34" charset="-120"/>
              </a:rPr>
              <a:t>Score candidates</a:t>
            </a:r>
            <a:endParaRPr lang="en-US" sz="1150" dirty="0"/>
          </a:p>
          <a:p>
            <a:pPr algn="l" marL="233680" indent="-233680">
              <a:lnSpc>
                <a:spcPct val="117000"/>
              </a:lnSpc>
              <a:buSzPct val="100000"/>
              <a:buFont typeface="+mj-lt"/>
              <a:buAutoNum type="arabicPeriod" startAt="5"/>
            </a:pPr>
            <a:r>
              <a:rPr lang="en-US" sz="1150" dirty="0">
                <a:solidFill>
                  <a:srgbClr val="3B3535"/>
                </a:solidFill>
                <a:latin typeface="Roboto Light" pitchFamily="34" charset="0"/>
                <a:ea typeface="Roboto Light" pitchFamily="34" charset="-122"/>
                <a:cs typeface="Roboto Light" pitchFamily="34" charset="-120"/>
              </a:rPr>
              <a:t>Explain why each matched</a:t>
            </a:r>
            <a:endParaRPr lang="en-US" sz="1150" dirty="0"/>
          </a:p>
        </p:txBody>
      </p:sp>
      <p:sp>
        <p:nvSpPr>
          <p:cNvPr id="6" name="Text 4"/>
          <p:cNvSpPr/>
          <p:nvPr/>
        </p:nvSpPr>
        <p:spPr>
          <a:xfrm>
            <a:off x="6284656" y="1573709"/>
            <a:ext cx="5215303" cy="219968"/>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Red Hat Text" pitchFamily="34" charset="0"/>
                <a:ea typeface="Red Hat Text" pitchFamily="34" charset="-122"/>
                <a:cs typeface="Red Hat Text" pitchFamily="34" charset="-120"/>
              </a:rPr>
              <a:t>Circularity demo</a:t>
            </a:r>
            <a:endParaRPr lang="en-US" sz="1350" dirty="0"/>
          </a:p>
        </p:txBody>
      </p:sp>
      <p:sp>
        <p:nvSpPr>
          <p:cNvPr id="7" name="Text 5"/>
          <p:cNvSpPr/>
          <p:nvPr/>
        </p:nvSpPr>
        <p:spPr>
          <a:xfrm>
            <a:off x="6284656" y="1905794"/>
            <a:ext cx="5215303" cy="1039614"/>
          </a:xfrm>
          <a:prstGeom prst="rect">
            <a:avLst/>
          </a:prstGeom>
          <a:noFill/>
          <a:ln/>
        </p:spPr>
        <p:txBody>
          <a:bodyPr wrap="square" lIns="0" tIns="0" rIns="0" bIns="0" rtlCol="0" anchor="t"/>
          <a:lstStyle/>
          <a:p>
            <a:pPr algn="l" indent="0" marL="0">
              <a:lnSpc>
                <a:spcPct val="117000"/>
              </a:lnSpc>
              <a:spcAft>
                <a:spcPts val="750"/>
              </a:spcAft>
              <a:buNone/>
            </a:pPr>
            <a:r>
              <a:rPr lang="en-US" sz="1150" b="1" dirty="0">
                <a:solidFill>
                  <a:srgbClr val="3B3535"/>
                </a:solidFill>
                <a:latin typeface="Roboto Bold" pitchFamily="34" charset="0"/>
                <a:ea typeface="Roboto Bold" pitchFamily="34" charset="-122"/>
                <a:cs typeface="Roboto Bold" pitchFamily="34" charset="-120"/>
              </a:rPr>
              <a:t>Scenario:</a:t>
            </a:r>
            <a:pPr algn="l" indent="0" marL="0">
              <a:lnSpc>
                <a:spcPct val="117000"/>
              </a:lnSpc>
              <a:spcAft>
                <a:spcPts val="750"/>
              </a:spcAft>
              <a:buNone/>
            </a:pPr>
            <a:r>
              <a:rPr lang="en-US" sz="1150" dirty="0">
                <a:solidFill>
                  <a:srgbClr val="3B3535"/>
                </a:solidFill>
                <a:latin typeface="Roboto Light" pitchFamily="34" charset="0"/>
                <a:ea typeface="Roboto Light" pitchFamily="34" charset="-122"/>
                <a:cs typeface="Roboto Light" pitchFamily="34" charset="-120"/>
              </a:rPr>
              <a:t> Damaged chair uploaded</a:t>
            </a:r>
            <a:endParaRPr lang="en-US" sz="1150" dirty="0"/>
          </a:p>
          <a:p>
            <a:pPr algn="l" indent="0" marL="0">
              <a:lnSpc>
                <a:spcPct val="117000"/>
              </a:lnSpc>
              <a:spcAft>
                <a:spcPts val="750"/>
              </a:spcAft>
              <a:buNone/>
            </a:pPr>
            <a:r>
              <a:rPr lang="en-US" sz="1150" b="1" dirty="0">
                <a:solidFill>
                  <a:srgbClr val="3B3535"/>
                </a:solidFill>
                <a:latin typeface="Roboto Bold" pitchFamily="34" charset="0"/>
                <a:ea typeface="Roboto Bold" pitchFamily="34" charset="-122"/>
                <a:cs typeface="Roboto Bold" pitchFamily="34" charset="-120"/>
              </a:rPr>
              <a:t>Vision assessment:</a:t>
            </a:r>
            <a:pPr algn="l" indent="0" marL="0">
              <a:lnSpc>
                <a:spcPct val="117000"/>
              </a:lnSpc>
              <a:spcAft>
                <a:spcPts val="750"/>
              </a:spcAft>
              <a:buNone/>
            </a:pPr>
            <a:r>
              <a:rPr lang="en-US" sz="1150" dirty="0">
                <a:solidFill>
                  <a:srgbClr val="3B3535"/>
                </a:solidFill>
                <a:latin typeface="Roboto Light" pitchFamily="34" charset="0"/>
                <a:ea typeface="Roboto Light" pitchFamily="34" charset="-122"/>
                <a:cs typeface="Roboto Light" pitchFamily="34" charset="-120"/>
              </a:rPr>
              <a:t> Severely damaged — structural integrity compromised.</a:t>
            </a:r>
            <a:endParaRPr lang="en-US" sz="1150" dirty="0"/>
          </a:p>
          <a:p>
            <a:pPr algn="l" indent="0" marL="0">
              <a:lnSpc>
                <a:spcPct val="117000"/>
              </a:lnSpc>
              <a:buNone/>
            </a:pPr>
            <a:r>
              <a:rPr lang="en-US" sz="1150" b="1" dirty="0">
                <a:solidFill>
                  <a:srgbClr val="3B3535"/>
                </a:solidFill>
                <a:latin typeface="Roboto Bold" pitchFamily="34" charset="0"/>
                <a:ea typeface="Roboto Bold" pitchFamily="34" charset="-122"/>
                <a:cs typeface="Roboto Bold" pitchFamily="34" charset="-120"/>
              </a:rPr>
              <a:t>Recommendation:</a:t>
            </a:r>
            <a:pPr algn="l" indent="0" marL="0">
              <a:lnSpc>
                <a:spcPct val="117000"/>
              </a:lnSpc>
              <a:buNone/>
            </a:pPr>
            <a:r>
              <a:rPr lang="en-US" sz="1150" dirty="0">
                <a:solidFill>
                  <a:srgbClr val="3B3535"/>
                </a:solidFill>
                <a:latin typeface="Roboto Light" pitchFamily="34" charset="0"/>
                <a:ea typeface="Roboto Light" pitchFamily="34" charset="-122"/>
                <a:cs typeface="Roboto Light" pitchFamily="34" charset="-120"/>
              </a:rPr>
              <a:t> Recycle OR major repair assessment. Human review required for safety decisions.</a:t>
            </a:r>
            <a:endParaRPr lang="en-US" sz="1150" dirty="0"/>
          </a:p>
        </p:txBody>
      </p:sp>
      <p:sp>
        <p:nvSpPr>
          <p:cNvPr id="8" name="Text 6"/>
          <p:cNvSpPr/>
          <p:nvPr/>
        </p:nvSpPr>
        <p:spPr>
          <a:xfrm>
            <a:off x="6284656" y="3057525"/>
            <a:ext cx="5215303" cy="219968"/>
          </a:xfrm>
          <a:prstGeom prst="rect">
            <a:avLst/>
          </a:prstGeom>
          <a:noFill/>
          <a:ln/>
        </p:spPr>
        <p:txBody>
          <a:bodyPr wrap="none" lIns="0" tIns="0" rIns="0" bIns="0" rtlCol="0" anchor="t"/>
          <a:lstStyle/>
          <a:p>
            <a:pPr algn="l" indent="0" marL="0">
              <a:lnSpc>
                <a:spcPct val="104000"/>
              </a:lnSpc>
              <a:buNone/>
            </a:pPr>
            <a:r>
              <a:rPr lang="en-US" sz="1350" dirty="0">
                <a:solidFill>
                  <a:srgbClr val="1F1E1E"/>
                </a:solidFill>
                <a:latin typeface="Red Hat Text" pitchFamily="34" charset="0"/>
                <a:ea typeface="Red Hat Text" pitchFamily="34" charset="-122"/>
                <a:cs typeface="Red Hat Text" pitchFamily="34" charset="-120"/>
              </a:rPr>
              <a:t>Current prototype</a:t>
            </a:r>
            <a:endParaRPr lang="en-US" sz="1350" dirty="0"/>
          </a:p>
        </p:txBody>
      </p:sp>
      <p:sp>
        <p:nvSpPr>
          <p:cNvPr id="9" name="Shape 7"/>
          <p:cNvSpPr/>
          <p:nvPr/>
        </p:nvSpPr>
        <p:spPr>
          <a:xfrm>
            <a:off x="6284656" y="3403699"/>
            <a:ext cx="5215303" cy="1114227"/>
          </a:xfrm>
          <a:prstGeom prst="roundRect">
            <a:avLst>
              <a:gd name="adj" fmla="val 2014"/>
            </a:avLst>
          </a:prstGeom>
          <a:solidFill>
            <a:srgbClr val="FAD1D1"/>
          </a:solidFill>
          <a:ln/>
        </p:spPr>
      </p:sp>
      <p:pic>
        <p:nvPicPr>
          <p:cNvPr id="10" name="Image 0" descr="preencoded.png">    </p:cNvPr>
          <p:cNvPicPr>
            <a:picLocks noChangeAspect="1"/>
          </p:cNvPicPr>
          <p:nvPr/>
        </p:nvPicPr>
        <p:blipFill>
          <a:blip r:embed="rId1"/>
          <a:stretch>
            <a:fillRect/>
          </a:stretch>
        </p:blipFill>
        <p:spPr>
          <a:xfrm>
            <a:off x="6434175" y="3574653"/>
            <a:ext cx="186923" cy="149523"/>
          </a:xfrm>
          <a:prstGeom prst="rect">
            <a:avLst/>
          </a:prstGeom>
        </p:spPr>
      </p:pic>
      <p:sp>
        <p:nvSpPr>
          <p:cNvPr id="11" name="Text 8"/>
          <p:cNvSpPr/>
          <p:nvPr/>
        </p:nvSpPr>
        <p:spPr>
          <a:xfrm>
            <a:off x="6770617" y="3541911"/>
            <a:ext cx="4579823" cy="837803"/>
          </a:xfrm>
          <a:prstGeom prst="rect">
            <a:avLst/>
          </a:prstGeom>
          <a:noFill/>
          <a:ln/>
        </p:spPr>
        <p:txBody>
          <a:bodyPr wrap="square" lIns="0" tIns="0" rIns="0" bIns="0" rtlCol="0" anchor="t">
            <a:normAutofit/>
          </a:bodyPr>
          <a:lstStyle/>
          <a:p>
            <a:pPr algn="l" indent="0" marL="0">
              <a:lnSpc>
                <a:spcPct val="117000"/>
              </a:lnSpc>
              <a:buNone/>
            </a:pPr>
            <a:r>
              <a:rPr lang="en-US" sz="1150" dirty="0">
                <a:solidFill>
                  <a:srgbClr val="000000"/>
                </a:solidFill>
                <a:latin typeface="Roboto Light" pitchFamily="34" charset="0"/>
                <a:ea typeface="Roboto Light" pitchFamily="34" charset="-122"/>
                <a:cs typeface="Roboto Light" pitchFamily="34" charset="-120"/>
              </a:rPr>
              <a:t>The prototype implements parsing, search, deterministic compatibility checks and basic vision assessment. Further integrations (full RAG policy automation, multi‑org transfer workflow) are planned; not all future architecture components are fully implemented.</a:t>
            </a:r>
            <a:endParaRPr lang="en-US" sz="1150" dirty="0"/>
          </a:p>
        </p:txBody>
      </p:sp>
      <p:pic>
        <p:nvPicPr>
          <p:cNvPr id="12" name="Image 1" descr="preencoded.png">    </p:cNvPr>
          <p:cNvPicPr>
            <a:picLocks noChangeAspect="1"/>
          </p:cNvPicPr>
          <p:nvPr/>
        </p:nvPicPr>
        <p:blipFill>
          <a:blip r:embed="rId2"/>
          <a:stretch>
            <a:fillRect/>
          </a:stretch>
        </p:blipFill>
        <p:spPr>
          <a:xfrm>
            <a:off x="698086" y="4770338"/>
            <a:ext cx="987400" cy="1234281"/>
          </a:xfrm>
          <a:prstGeom prst="rect">
            <a:avLst/>
          </a:prstGeom>
        </p:spPr>
      </p:pic>
      <p:sp>
        <p:nvSpPr>
          <p:cNvPr id="13" name="Text 9"/>
          <p:cNvSpPr/>
          <p:nvPr/>
        </p:nvSpPr>
        <p:spPr>
          <a:xfrm>
            <a:off x="1825679" y="4770338"/>
            <a:ext cx="9667931" cy="219968"/>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ed Hat Text" pitchFamily="34" charset="0"/>
                <a:ea typeface="Red Hat Text" pitchFamily="34" charset="-122"/>
                <a:cs typeface="Red Hat Text" pitchFamily="34" charset="-120"/>
              </a:rPr>
              <a:t>Match #1 — Dell OptiPlex 7090</a:t>
            </a:r>
            <a:endParaRPr lang="en-US" sz="1350" dirty="0"/>
          </a:p>
        </p:txBody>
      </p:sp>
      <p:sp>
        <p:nvSpPr>
          <p:cNvPr id="14" name="Text 10"/>
          <p:cNvSpPr/>
          <p:nvPr/>
        </p:nvSpPr>
        <p:spPr>
          <a:xfrm>
            <a:off x="1825679" y="5057577"/>
            <a:ext cx="9667931" cy="209451"/>
          </a:xfrm>
          <a:prstGeom prst="rect">
            <a:avLst/>
          </a:prstGeom>
          <a:noFill/>
          <a:ln/>
        </p:spPr>
        <p:txBody>
          <a:bodyPr wrap="none" lIns="0" tIns="0" rIns="0" bIns="0" rtlCol="0" anchor="t"/>
          <a:lstStyle/>
          <a:p>
            <a:pPr algn="l" indent="0" marL="0">
              <a:lnSpc>
                <a:spcPct val="117000"/>
              </a:lnSpc>
              <a:buNone/>
            </a:pPr>
            <a:r>
              <a:rPr lang="en-US" sz="1150" dirty="0">
                <a:solidFill>
                  <a:srgbClr val="3B3535"/>
                </a:solidFill>
                <a:latin typeface="Roboto Light" pitchFamily="34" charset="0"/>
                <a:ea typeface="Roboto Light" pitchFamily="34" charset="-122"/>
                <a:cs typeface="Roboto Light" pitchFamily="34" charset="-120"/>
              </a:rPr>
              <a:t>93% Match — 16GB RAM ✓ 512GB SSD ✓ GPU ✓ Available ✓ Underutilised ✓ Recommended for redistribution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8086" y="555030"/>
            <a:ext cx="10795524" cy="469404"/>
          </a:xfrm>
          <a:prstGeom prst="rect">
            <a:avLst/>
          </a:prstGeom>
          <a:noFill/>
          <a:ln/>
        </p:spPr>
        <p:txBody>
          <a:bodyPr wrap="none" lIns="0" tIns="0" rIns="0" bIns="0" rtlCol="0" anchor="t"/>
          <a:lstStyle/>
          <a:p>
            <a:pPr algn="l" indent="0" marL="0">
              <a:lnSpc>
                <a:spcPct val="104000"/>
              </a:lnSpc>
              <a:buNone/>
            </a:pPr>
            <a:r>
              <a:rPr lang="en-US" sz="2950" dirty="0">
                <a:solidFill>
                  <a:srgbClr val="1F1E1E"/>
                </a:solidFill>
                <a:latin typeface="Red Hat Text" pitchFamily="34" charset="0"/>
                <a:ea typeface="Red Hat Text" pitchFamily="34" charset="-122"/>
                <a:cs typeface="Red Hat Text" pitchFamily="34" charset="-120"/>
              </a:rPr>
              <a:t>Working Prototype</a:t>
            </a:r>
            <a:endParaRPr lang="en-US" sz="2950" dirty="0"/>
          </a:p>
        </p:txBody>
      </p:sp>
      <p:pic>
        <p:nvPicPr>
          <p:cNvPr id="3" name="Image 0" descr="preencoded.png">    </p:cNvPr>
          <p:cNvPicPr>
            <a:picLocks noChangeAspect="1"/>
          </p:cNvPicPr>
          <p:nvPr/>
        </p:nvPicPr>
        <p:blipFill>
          <a:blip r:embed="rId1"/>
          <a:stretch>
            <a:fillRect/>
          </a:stretch>
        </p:blipFill>
        <p:spPr>
          <a:xfrm>
            <a:off x="704436" y="1383407"/>
            <a:ext cx="3509180" cy="1915021"/>
          </a:xfrm>
          <a:prstGeom prst="rect">
            <a:avLst/>
          </a:prstGeom>
        </p:spPr>
      </p:pic>
      <p:pic>
        <p:nvPicPr>
          <p:cNvPr id="4" name="Image 1" descr="preencoded.png">    </p:cNvPr>
          <p:cNvPicPr>
            <a:picLocks noChangeAspect="1"/>
          </p:cNvPicPr>
          <p:nvPr/>
        </p:nvPicPr>
        <p:blipFill>
          <a:blip r:embed="rId2"/>
          <a:stretch>
            <a:fillRect/>
          </a:stretch>
        </p:blipFill>
        <p:spPr>
          <a:xfrm>
            <a:off x="4341208" y="1383407"/>
            <a:ext cx="3509180" cy="1915021"/>
          </a:xfrm>
          <a:prstGeom prst="rect">
            <a:avLst/>
          </a:prstGeom>
        </p:spPr>
      </p:pic>
      <p:pic>
        <p:nvPicPr>
          <p:cNvPr id="5" name="Image 2" descr="preencoded.png">    </p:cNvPr>
          <p:cNvPicPr>
            <a:picLocks noChangeAspect="1"/>
          </p:cNvPicPr>
          <p:nvPr/>
        </p:nvPicPr>
        <p:blipFill>
          <a:blip r:embed="rId3"/>
          <a:stretch>
            <a:fillRect/>
          </a:stretch>
        </p:blipFill>
        <p:spPr>
          <a:xfrm>
            <a:off x="7977980" y="1383407"/>
            <a:ext cx="3509180" cy="1915021"/>
          </a:xfrm>
          <a:prstGeom prst="rect">
            <a:avLst/>
          </a:prstGeom>
        </p:spPr>
      </p:pic>
      <p:pic>
        <p:nvPicPr>
          <p:cNvPr id="6" name="Image 3" descr="preencoded.png">    </p:cNvPr>
          <p:cNvPicPr>
            <a:picLocks noChangeAspect="1"/>
          </p:cNvPicPr>
          <p:nvPr/>
        </p:nvPicPr>
        <p:blipFill>
          <a:blip r:embed="rId4"/>
          <a:stretch>
            <a:fillRect/>
          </a:stretch>
        </p:blipFill>
        <p:spPr>
          <a:xfrm>
            <a:off x="704436" y="3426023"/>
            <a:ext cx="5327616" cy="1915021"/>
          </a:xfrm>
          <a:prstGeom prst="rect">
            <a:avLst/>
          </a:prstGeom>
        </p:spPr>
      </p:pic>
      <p:pic>
        <p:nvPicPr>
          <p:cNvPr id="7" name="Image 4" descr="preencoded.png">    </p:cNvPr>
          <p:cNvPicPr>
            <a:picLocks noChangeAspect="1"/>
          </p:cNvPicPr>
          <p:nvPr/>
        </p:nvPicPr>
        <p:blipFill>
          <a:blip r:embed="rId5"/>
          <a:stretch>
            <a:fillRect/>
          </a:stretch>
        </p:blipFill>
        <p:spPr>
          <a:xfrm>
            <a:off x="6159644" y="3426023"/>
            <a:ext cx="5327616" cy="1915021"/>
          </a:xfrm>
          <a:prstGeom prst="rect">
            <a:avLst/>
          </a:prstGeom>
        </p:spPr>
      </p:pic>
      <p:sp>
        <p:nvSpPr>
          <p:cNvPr id="8" name="Shape 1"/>
          <p:cNvSpPr/>
          <p:nvPr/>
        </p:nvSpPr>
        <p:spPr>
          <a:xfrm>
            <a:off x="698086" y="5676007"/>
            <a:ext cx="79770" cy="79772"/>
          </a:xfrm>
          <a:prstGeom prst="ellipse">
            <a:avLst/>
          </a:prstGeom>
          <a:solidFill>
            <a:srgbClr val="F5A3A3"/>
          </a:solidFill>
          <a:ln/>
        </p:spPr>
      </p:sp>
      <p:sp>
        <p:nvSpPr>
          <p:cNvPr id="9" name="Text 2"/>
          <p:cNvSpPr/>
          <p:nvPr/>
        </p:nvSpPr>
        <p:spPr>
          <a:xfrm>
            <a:off x="905448" y="5588298"/>
            <a:ext cx="3284753" cy="229691"/>
          </a:xfrm>
          <a:prstGeom prst="rect">
            <a:avLst/>
          </a:prstGeom>
          <a:noFill/>
          <a:ln/>
        </p:spPr>
        <p:txBody>
          <a:bodyPr wrap="none" lIns="0" tIns="0" rIns="0" bIns="0" rtlCol="0" anchor="t"/>
          <a:lstStyle/>
          <a:p>
            <a:pPr algn="l" indent="0" marL="0">
              <a:lnSpc>
                <a:spcPct val="120000"/>
              </a:lnSpc>
              <a:buNone/>
            </a:pPr>
            <a:r>
              <a:rPr lang="en-US" sz="1250" dirty="0">
                <a:solidFill>
                  <a:srgbClr val="3B3535"/>
                </a:solidFill>
                <a:latin typeface="Roboto Light" pitchFamily="34" charset="0"/>
                <a:ea typeface="Roboto Light" pitchFamily="34" charset="-122"/>
                <a:cs typeface="Roboto Light" pitchFamily="34" charset="-120"/>
              </a:rPr>
              <a:t>① Dashboard Overview</a:t>
            </a:r>
            <a:endParaRPr lang="en-US" sz="1250" dirty="0"/>
          </a:p>
        </p:txBody>
      </p:sp>
      <p:sp>
        <p:nvSpPr>
          <p:cNvPr id="10" name="Shape 3"/>
          <p:cNvSpPr/>
          <p:nvPr/>
        </p:nvSpPr>
        <p:spPr>
          <a:xfrm>
            <a:off x="4349740" y="5676007"/>
            <a:ext cx="79770" cy="79772"/>
          </a:xfrm>
          <a:prstGeom prst="ellipse">
            <a:avLst/>
          </a:prstGeom>
          <a:solidFill>
            <a:srgbClr val="F5A3A3"/>
          </a:solidFill>
          <a:ln/>
        </p:spPr>
      </p:sp>
      <p:sp>
        <p:nvSpPr>
          <p:cNvPr id="11" name="Text 4"/>
          <p:cNvSpPr/>
          <p:nvPr/>
        </p:nvSpPr>
        <p:spPr>
          <a:xfrm>
            <a:off x="4557102" y="5588298"/>
            <a:ext cx="3284753" cy="229691"/>
          </a:xfrm>
          <a:prstGeom prst="rect">
            <a:avLst/>
          </a:prstGeom>
          <a:noFill/>
          <a:ln/>
        </p:spPr>
        <p:txBody>
          <a:bodyPr wrap="none" lIns="0" tIns="0" rIns="0" bIns="0" rtlCol="0" anchor="t"/>
          <a:lstStyle/>
          <a:p>
            <a:pPr algn="l" indent="0" marL="0">
              <a:lnSpc>
                <a:spcPct val="120000"/>
              </a:lnSpc>
              <a:buNone/>
            </a:pPr>
            <a:r>
              <a:rPr lang="en-US" sz="1250" dirty="0">
                <a:solidFill>
                  <a:srgbClr val="3B3535"/>
                </a:solidFill>
                <a:latin typeface="Roboto Light" pitchFamily="34" charset="0"/>
                <a:ea typeface="Roboto Light" pitchFamily="34" charset="-122"/>
                <a:cs typeface="Roboto Light" pitchFamily="34" charset="-120"/>
              </a:rPr>
              <a:t>② Resource Matching</a:t>
            </a:r>
            <a:endParaRPr lang="en-US" sz="1250" dirty="0"/>
          </a:p>
        </p:txBody>
      </p:sp>
      <p:sp>
        <p:nvSpPr>
          <p:cNvPr id="12" name="Shape 5"/>
          <p:cNvSpPr/>
          <p:nvPr/>
        </p:nvSpPr>
        <p:spPr>
          <a:xfrm>
            <a:off x="8001395" y="5676007"/>
            <a:ext cx="79770" cy="79772"/>
          </a:xfrm>
          <a:prstGeom prst="ellipse">
            <a:avLst/>
          </a:prstGeom>
          <a:solidFill>
            <a:srgbClr val="F5A3A3"/>
          </a:solidFill>
          <a:ln/>
        </p:spPr>
      </p:sp>
      <p:sp>
        <p:nvSpPr>
          <p:cNvPr id="13" name="Text 6"/>
          <p:cNvSpPr/>
          <p:nvPr/>
        </p:nvSpPr>
        <p:spPr>
          <a:xfrm>
            <a:off x="8208757" y="5588298"/>
            <a:ext cx="3284753" cy="229691"/>
          </a:xfrm>
          <a:prstGeom prst="rect">
            <a:avLst/>
          </a:prstGeom>
          <a:noFill/>
          <a:ln/>
        </p:spPr>
        <p:txBody>
          <a:bodyPr wrap="none" lIns="0" tIns="0" rIns="0" bIns="0" rtlCol="0" anchor="t"/>
          <a:lstStyle/>
          <a:p>
            <a:pPr algn="l" indent="0" marL="0">
              <a:lnSpc>
                <a:spcPct val="120000"/>
              </a:lnSpc>
              <a:buNone/>
            </a:pPr>
            <a:r>
              <a:rPr lang="en-US" sz="1250" dirty="0">
                <a:solidFill>
                  <a:srgbClr val="3B3535"/>
                </a:solidFill>
                <a:latin typeface="Roboto Light" pitchFamily="34" charset="0"/>
                <a:ea typeface="Roboto Light" pitchFamily="34" charset="-122"/>
                <a:cs typeface="Roboto Light" pitchFamily="34" charset="-120"/>
              </a:rPr>
              <a:t>③ Circularity Assessment</a:t>
            </a:r>
            <a:endParaRPr lang="en-US" sz="1250" dirty="0"/>
          </a:p>
        </p:txBody>
      </p:sp>
      <p:sp>
        <p:nvSpPr>
          <p:cNvPr id="14" name="Shape 7"/>
          <p:cNvSpPr/>
          <p:nvPr/>
        </p:nvSpPr>
        <p:spPr>
          <a:xfrm>
            <a:off x="698086" y="6160988"/>
            <a:ext cx="79770" cy="79772"/>
          </a:xfrm>
          <a:prstGeom prst="ellipse">
            <a:avLst/>
          </a:prstGeom>
          <a:solidFill>
            <a:srgbClr val="F5A3A3"/>
          </a:solidFill>
          <a:ln/>
        </p:spPr>
      </p:sp>
      <p:sp>
        <p:nvSpPr>
          <p:cNvPr id="15" name="Text 8"/>
          <p:cNvSpPr/>
          <p:nvPr/>
        </p:nvSpPr>
        <p:spPr>
          <a:xfrm>
            <a:off x="905448" y="6073279"/>
            <a:ext cx="5110531" cy="229691"/>
          </a:xfrm>
          <a:prstGeom prst="rect">
            <a:avLst/>
          </a:prstGeom>
          <a:noFill/>
          <a:ln/>
        </p:spPr>
        <p:txBody>
          <a:bodyPr wrap="none" lIns="0" tIns="0" rIns="0" bIns="0" rtlCol="0" anchor="t"/>
          <a:lstStyle/>
          <a:p>
            <a:pPr algn="l" indent="0" marL="0">
              <a:lnSpc>
                <a:spcPct val="120000"/>
              </a:lnSpc>
              <a:buNone/>
            </a:pPr>
            <a:r>
              <a:rPr lang="en-US" sz="1250" dirty="0">
                <a:solidFill>
                  <a:srgbClr val="3B3535"/>
                </a:solidFill>
                <a:latin typeface="Roboto Light" pitchFamily="34" charset="0"/>
                <a:ea typeface="Roboto Light" pitchFamily="34" charset="-122"/>
                <a:cs typeface="Roboto Light" pitchFamily="34" charset="-120"/>
              </a:rPr>
              <a:t>④ Policy Search &amp; RAG</a:t>
            </a:r>
            <a:endParaRPr lang="en-US" sz="1250" dirty="0"/>
          </a:p>
        </p:txBody>
      </p:sp>
      <p:sp>
        <p:nvSpPr>
          <p:cNvPr id="16" name="Shape 9"/>
          <p:cNvSpPr/>
          <p:nvPr/>
        </p:nvSpPr>
        <p:spPr>
          <a:xfrm>
            <a:off x="6175518" y="6160988"/>
            <a:ext cx="79770" cy="79772"/>
          </a:xfrm>
          <a:prstGeom prst="ellipse">
            <a:avLst/>
          </a:prstGeom>
          <a:solidFill>
            <a:srgbClr val="F5A3A3"/>
          </a:solidFill>
          <a:ln/>
        </p:spPr>
      </p:sp>
      <p:sp>
        <p:nvSpPr>
          <p:cNvPr id="17" name="Text 10"/>
          <p:cNvSpPr/>
          <p:nvPr/>
        </p:nvSpPr>
        <p:spPr>
          <a:xfrm>
            <a:off x="6382880" y="6073279"/>
            <a:ext cx="5110630" cy="229691"/>
          </a:xfrm>
          <a:prstGeom prst="rect">
            <a:avLst/>
          </a:prstGeom>
          <a:noFill/>
          <a:ln/>
        </p:spPr>
        <p:txBody>
          <a:bodyPr wrap="none" lIns="0" tIns="0" rIns="0" bIns="0" rtlCol="0" anchor="t"/>
          <a:lstStyle/>
          <a:p>
            <a:pPr algn="l" indent="0" marL="0">
              <a:lnSpc>
                <a:spcPct val="120000"/>
              </a:lnSpc>
              <a:buNone/>
            </a:pPr>
            <a:r>
              <a:rPr lang="en-US" sz="1250" dirty="0">
                <a:solidFill>
                  <a:srgbClr val="3B3535"/>
                </a:solidFill>
                <a:latin typeface="Roboto Light" pitchFamily="34" charset="0"/>
                <a:ea typeface="Roboto Light" pitchFamily="34" charset="-122"/>
                <a:cs typeface="Roboto Light" pitchFamily="34" charset="-120"/>
              </a:rPr>
              <a:t>⑤ Impact Tracking</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98086" y="602853"/>
            <a:ext cx="10795524" cy="339626"/>
          </a:xfrm>
          <a:prstGeom prst="rect">
            <a:avLst/>
          </a:prstGeom>
          <a:noFill/>
          <a:ln/>
        </p:spPr>
        <p:txBody>
          <a:bodyPr wrap="none" lIns="0" tIns="0" rIns="0" bIns="0" rtlCol="0" anchor="t"/>
          <a:lstStyle/>
          <a:p>
            <a:pPr algn="l" indent="0" marL="0">
              <a:lnSpc>
                <a:spcPct val="104000"/>
              </a:lnSpc>
              <a:buNone/>
            </a:pPr>
            <a:r>
              <a:rPr lang="en-US" sz="2100" dirty="0">
                <a:solidFill>
                  <a:srgbClr val="1F1E1E"/>
                </a:solidFill>
                <a:latin typeface="Red Hat Text" pitchFamily="34" charset="0"/>
                <a:ea typeface="Red Hat Text" pitchFamily="34" charset="-122"/>
                <a:cs typeface="Red Hat Text" pitchFamily="34" charset="-120"/>
              </a:rPr>
              <a:t>Impact, scalability &amp; SDG alignment</a:t>
            </a:r>
            <a:endParaRPr lang="en-US" sz="2100" dirty="0"/>
          </a:p>
        </p:txBody>
      </p:sp>
      <p:sp>
        <p:nvSpPr>
          <p:cNvPr id="3" name="Text 1"/>
          <p:cNvSpPr/>
          <p:nvPr/>
        </p:nvSpPr>
        <p:spPr>
          <a:xfrm>
            <a:off x="698086" y="1109464"/>
            <a:ext cx="3373849" cy="169763"/>
          </a:xfrm>
          <a:prstGeom prst="rect">
            <a:avLst/>
          </a:prstGeom>
          <a:noFill/>
          <a:ln/>
        </p:spPr>
        <p:txBody>
          <a:bodyPr wrap="none" lIns="0" tIns="0" rIns="0" bIns="0" rtlCol="0" anchor="t"/>
          <a:lstStyle/>
          <a:p>
            <a:pPr algn="l" indent="0" marL="0">
              <a:lnSpc>
                <a:spcPct val="104000"/>
              </a:lnSpc>
              <a:buNone/>
            </a:pPr>
            <a:r>
              <a:rPr lang="en-US" sz="1050" dirty="0">
                <a:solidFill>
                  <a:srgbClr val="1F1E1E"/>
                </a:solidFill>
                <a:latin typeface="Red Hat Text" pitchFamily="34" charset="0"/>
                <a:ea typeface="Red Hat Text" pitchFamily="34" charset="-122"/>
                <a:cs typeface="Red Hat Text" pitchFamily="34" charset="-120"/>
              </a:rPr>
              <a:t>Impact (potential)</a:t>
            </a:r>
            <a:endParaRPr lang="en-US" sz="1050" dirty="0"/>
          </a:p>
        </p:txBody>
      </p:sp>
      <p:sp>
        <p:nvSpPr>
          <p:cNvPr id="4" name="Shape 2"/>
          <p:cNvSpPr/>
          <p:nvPr/>
        </p:nvSpPr>
        <p:spPr>
          <a:xfrm>
            <a:off x="698086" y="1354435"/>
            <a:ext cx="3373849" cy="904875"/>
          </a:xfrm>
          <a:prstGeom prst="roundRect">
            <a:avLst>
              <a:gd name="adj" fmla="val 1914"/>
            </a:avLst>
          </a:prstGeom>
          <a:solidFill>
            <a:srgbClr val="F3E8E8"/>
          </a:solidFill>
          <a:ln/>
        </p:spPr>
      </p:sp>
      <p:sp>
        <p:nvSpPr>
          <p:cNvPr id="5" name="Text 3"/>
          <p:cNvSpPr/>
          <p:nvPr/>
        </p:nvSpPr>
        <p:spPr>
          <a:xfrm>
            <a:off x="813474" y="1469827"/>
            <a:ext cx="3143072" cy="169763"/>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ed Hat Text" pitchFamily="34" charset="0"/>
                <a:ea typeface="Red Hat Text" pitchFamily="34" charset="-122"/>
                <a:cs typeface="Red Hat Text" pitchFamily="34" charset="-120"/>
              </a:rPr>
              <a:t>Economic</a:t>
            </a:r>
            <a:endParaRPr lang="en-US" sz="1050" dirty="0"/>
          </a:p>
        </p:txBody>
      </p:sp>
      <p:sp>
        <p:nvSpPr>
          <p:cNvPr id="6" name="Text 4"/>
          <p:cNvSpPr/>
          <p:nvPr/>
        </p:nvSpPr>
        <p:spPr>
          <a:xfrm>
            <a:off x="813474" y="1706364"/>
            <a:ext cx="3143072" cy="437555"/>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3B3535"/>
                </a:solidFill>
                <a:latin typeface="Roboto Light" pitchFamily="34" charset="0"/>
                <a:ea typeface="Roboto Light" pitchFamily="34" charset="-122"/>
                <a:cs typeface="Roboto Light" pitchFamily="34" charset="-120"/>
              </a:rPr>
              <a:t>Potential procurement avoided via reuse; improved asset utilisation; reduced purchasing costs (estimated / to be measured).</a:t>
            </a:r>
            <a:endParaRPr lang="en-US" sz="900" dirty="0"/>
          </a:p>
        </p:txBody>
      </p:sp>
      <p:sp>
        <p:nvSpPr>
          <p:cNvPr id="7" name="Shape 5"/>
          <p:cNvSpPr/>
          <p:nvPr/>
        </p:nvSpPr>
        <p:spPr>
          <a:xfrm>
            <a:off x="698086" y="2326084"/>
            <a:ext cx="3373849" cy="759023"/>
          </a:xfrm>
          <a:prstGeom prst="roundRect">
            <a:avLst>
              <a:gd name="adj" fmla="val 2282"/>
            </a:avLst>
          </a:prstGeom>
          <a:solidFill>
            <a:srgbClr val="F3E8E8"/>
          </a:solidFill>
          <a:ln/>
        </p:spPr>
      </p:sp>
      <p:sp>
        <p:nvSpPr>
          <p:cNvPr id="8" name="Text 6"/>
          <p:cNvSpPr/>
          <p:nvPr/>
        </p:nvSpPr>
        <p:spPr>
          <a:xfrm>
            <a:off x="813474" y="2441476"/>
            <a:ext cx="3143072" cy="169763"/>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ed Hat Text" pitchFamily="34" charset="0"/>
                <a:ea typeface="Red Hat Text" pitchFamily="34" charset="-122"/>
                <a:cs typeface="Red Hat Text" pitchFamily="34" charset="-120"/>
              </a:rPr>
              <a:t>Operational</a:t>
            </a:r>
            <a:endParaRPr lang="en-US" sz="1050" dirty="0"/>
          </a:p>
        </p:txBody>
      </p:sp>
      <p:sp>
        <p:nvSpPr>
          <p:cNvPr id="9" name="Text 7"/>
          <p:cNvSpPr/>
          <p:nvPr/>
        </p:nvSpPr>
        <p:spPr>
          <a:xfrm>
            <a:off x="813474" y="2678013"/>
            <a:ext cx="3143072" cy="291703"/>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3B3535"/>
                </a:solidFill>
                <a:latin typeface="Roboto Light" pitchFamily="34" charset="0"/>
                <a:ea typeface="Roboto Light" pitchFamily="34" charset="-122"/>
                <a:cs typeface="Roboto Light" pitchFamily="34" charset="-120"/>
              </a:rPr>
              <a:t>Faster discovery, centralised intelligence, explainable recommendations and structured transfer workflow.</a:t>
            </a:r>
            <a:endParaRPr lang="en-US" sz="900" dirty="0"/>
          </a:p>
        </p:txBody>
      </p:sp>
      <p:sp>
        <p:nvSpPr>
          <p:cNvPr id="10" name="Shape 8"/>
          <p:cNvSpPr/>
          <p:nvPr/>
        </p:nvSpPr>
        <p:spPr>
          <a:xfrm>
            <a:off x="698086" y="3151882"/>
            <a:ext cx="3373849" cy="904875"/>
          </a:xfrm>
          <a:prstGeom prst="roundRect">
            <a:avLst>
              <a:gd name="adj" fmla="val 1914"/>
            </a:avLst>
          </a:prstGeom>
          <a:solidFill>
            <a:srgbClr val="F3E8E8"/>
          </a:solidFill>
          <a:ln/>
        </p:spPr>
      </p:sp>
      <p:sp>
        <p:nvSpPr>
          <p:cNvPr id="11" name="Text 9"/>
          <p:cNvSpPr/>
          <p:nvPr/>
        </p:nvSpPr>
        <p:spPr>
          <a:xfrm>
            <a:off x="813474" y="3267273"/>
            <a:ext cx="3143072" cy="169763"/>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ed Hat Text" pitchFamily="34" charset="0"/>
                <a:ea typeface="Red Hat Text" pitchFamily="34" charset="-122"/>
                <a:cs typeface="Red Hat Text" pitchFamily="34" charset="-120"/>
              </a:rPr>
              <a:t>Environmental</a:t>
            </a:r>
            <a:endParaRPr lang="en-US" sz="1050" dirty="0"/>
          </a:p>
        </p:txBody>
      </p:sp>
      <p:sp>
        <p:nvSpPr>
          <p:cNvPr id="12" name="Text 10"/>
          <p:cNvSpPr/>
          <p:nvPr/>
        </p:nvSpPr>
        <p:spPr>
          <a:xfrm>
            <a:off x="813474" y="3503811"/>
            <a:ext cx="3143072" cy="437555"/>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3B3535"/>
                </a:solidFill>
                <a:latin typeface="Roboto Light" pitchFamily="34" charset="0"/>
                <a:ea typeface="Roboto Light" pitchFamily="34" charset="-122"/>
                <a:cs typeface="Roboto Light" pitchFamily="34" charset="-120"/>
              </a:rPr>
              <a:t>Longer useful lives, less premature disposal, better redistribution and material recovery (potential impact; future measurement required).</a:t>
            </a:r>
            <a:endParaRPr lang="en-US" sz="900" dirty="0"/>
          </a:p>
        </p:txBody>
      </p:sp>
      <p:sp>
        <p:nvSpPr>
          <p:cNvPr id="13" name="Text 11"/>
          <p:cNvSpPr/>
          <p:nvPr/>
        </p:nvSpPr>
        <p:spPr>
          <a:xfrm>
            <a:off x="4359860" y="1109464"/>
            <a:ext cx="3373849" cy="169763"/>
          </a:xfrm>
          <a:prstGeom prst="rect">
            <a:avLst/>
          </a:prstGeom>
          <a:noFill/>
          <a:ln/>
        </p:spPr>
        <p:txBody>
          <a:bodyPr wrap="none" lIns="0" tIns="0" rIns="0" bIns="0" rtlCol="0" anchor="t"/>
          <a:lstStyle/>
          <a:p>
            <a:pPr algn="l" indent="0" marL="0">
              <a:lnSpc>
                <a:spcPct val="104000"/>
              </a:lnSpc>
              <a:buNone/>
            </a:pPr>
            <a:r>
              <a:rPr lang="en-US" sz="1050" dirty="0">
                <a:solidFill>
                  <a:srgbClr val="1F1E1E"/>
                </a:solidFill>
                <a:latin typeface="Red Hat Text" pitchFamily="34" charset="0"/>
                <a:ea typeface="Red Hat Text" pitchFamily="34" charset="-122"/>
                <a:cs typeface="Red Hat Text" pitchFamily="34" charset="-120"/>
              </a:rPr>
              <a:t>Scale</a:t>
            </a:r>
            <a:endParaRPr lang="en-US" sz="1050" dirty="0"/>
          </a:p>
        </p:txBody>
      </p:sp>
      <p:sp>
        <p:nvSpPr>
          <p:cNvPr id="14" name="Text 12"/>
          <p:cNvSpPr/>
          <p:nvPr/>
        </p:nvSpPr>
        <p:spPr>
          <a:xfrm>
            <a:off x="4359860" y="1354435"/>
            <a:ext cx="230876" cy="144264"/>
          </a:xfrm>
          <a:prstGeom prst="rect">
            <a:avLst/>
          </a:prstGeom>
          <a:noFill/>
          <a:ln/>
        </p:spPr>
        <p:txBody>
          <a:bodyPr wrap="none" lIns="0" tIns="0" rIns="0" bIns="0" rtlCol="0" anchor="ctr"/>
          <a:lstStyle/>
          <a:p>
            <a:pPr algn="l" indent="0" marL="0">
              <a:lnSpc>
                <a:spcPct val="100000"/>
              </a:lnSpc>
              <a:buNone/>
            </a:pPr>
            <a:r>
              <a:rPr lang="en-US" sz="900" dirty="0">
                <a:solidFill>
                  <a:srgbClr val="3B3535"/>
                </a:solidFill>
                <a:latin typeface="Red Hat Text Light" pitchFamily="34" charset="0"/>
                <a:ea typeface="Red Hat Text Light" pitchFamily="34" charset="-122"/>
                <a:cs typeface="Red Hat Text Light" pitchFamily="34" charset="-120"/>
              </a:rPr>
              <a:t>01</a:t>
            </a:r>
            <a:endParaRPr lang="en-US" sz="900" dirty="0"/>
          </a:p>
        </p:txBody>
      </p:sp>
      <p:sp>
        <p:nvSpPr>
          <p:cNvPr id="15" name="Shape 13"/>
          <p:cNvSpPr/>
          <p:nvPr/>
        </p:nvSpPr>
        <p:spPr>
          <a:xfrm>
            <a:off x="4359860" y="1537791"/>
            <a:ext cx="3373849" cy="12700"/>
          </a:xfrm>
          <a:prstGeom prst="rect">
            <a:avLst/>
          </a:prstGeom>
          <a:solidFill>
            <a:srgbClr val="F5A3A3"/>
          </a:solidFill>
          <a:ln/>
        </p:spPr>
      </p:sp>
      <p:sp>
        <p:nvSpPr>
          <p:cNvPr id="16" name="Text 14"/>
          <p:cNvSpPr/>
          <p:nvPr/>
        </p:nvSpPr>
        <p:spPr>
          <a:xfrm>
            <a:off x="4359860" y="1620838"/>
            <a:ext cx="3373849" cy="169763"/>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ed Hat Text" pitchFamily="34" charset="0"/>
                <a:ea typeface="Red Hat Text" pitchFamily="34" charset="-122"/>
                <a:cs typeface="Red Hat Text" pitchFamily="34" charset="-120"/>
              </a:rPr>
              <a:t>LEVEL 1 — Organisation</a:t>
            </a:r>
            <a:endParaRPr lang="en-US" sz="1050" dirty="0"/>
          </a:p>
        </p:txBody>
      </p:sp>
      <p:sp>
        <p:nvSpPr>
          <p:cNvPr id="17" name="Text 15"/>
          <p:cNvSpPr/>
          <p:nvPr/>
        </p:nvSpPr>
        <p:spPr>
          <a:xfrm>
            <a:off x="4359860" y="1857375"/>
            <a:ext cx="3373849" cy="291703"/>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3B3535"/>
                </a:solidFill>
                <a:latin typeface="Roboto Light" pitchFamily="34" charset="0"/>
                <a:ea typeface="Roboto Light" pitchFamily="34" charset="-122"/>
                <a:cs typeface="Roboto Light" pitchFamily="34" charset="-120"/>
              </a:rPr>
              <a:t>Campus / hospital / company — single canonical inventory and approval workflows.</a:t>
            </a:r>
            <a:endParaRPr lang="en-US" sz="900" dirty="0"/>
          </a:p>
        </p:txBody>
      </p:sp>
      <p:sp>
        <p:nvSpPr>
          <p:cNvPr id="18" name="Text 16"/>
          <p:cNvSpPr/>
          <p:nvPr/>
        </p:nvSpPr>
        <p:spPr>
          <a:xfrm>
            <a:off x="4359860" y="2302371"/>
            <a:ext cx="230876" cy="144264"/>
          </a:xfrm>
          <a:prstGeom prst="rect">
            <a:avLst/>
          </a:prstGeom>
          <a:noFill/>
          <a:ln/>
        </p:spPr>
        <p:txBody>
          <a:bodyPr wrap="none" lIns="0" tIns="0" rIns="0" bIns="0" rtlCol="0" anchor="ctr"/>
          <a:lstStyle/>
          <a:p>
            <a:pPr algn="l" indent="0" marL="0">
              <a:lnSpc>
                <a:spcPct val="100000"/>
              </a:lnSpc>
              <a:buNone/>
            </a:pPr>
            <a:r>
              <a:rPr lang="en-US" sz="900" dirty="0">
                <a:solidFill>
                  <a:srgbClr val="3B3535"/>
                </a:solidFill>
                <a:latin typeface="Red Hat Text Light" pitchFamily="34" charset="0"/>
                <a:ea typeface="Red Hat Text Light" pitchFamily="34" charset="-122"/>
                <a:cs typeface="Red Hat Text Light" pitchFamily="34" charset="-120"/>
              </a:rPr>
              <a:t>02</a:t>
            </a:r>
            <a:endParaRPr lang="en-US" sz="900" dirty="0"/>
          </a:p>
        </p:txBody>
      </p:sp>
      <p:sp>
        <p:nvSpPr>
          <p:cNvPr id="19" name="Shape 17"/>
          <p:cNvSpPr/>
          <p:nvPr/>
        </p:nvSpPr>
        <p:spPr>
          <a:xfrm>
            <a:off x="4359860" y="2485727"/>
            <a:ext cx="3373849" cy="12700"/>
          </a:xfrm>
          <a:prstGeom prst="rect">
            <a:avLst/>
          </a:prstGeom>
          <a:solidFill>
            <a:srgbClr val="F5A3A3"/>
          </a:solidFill>
          <a:ln/>
        </p:spPr>
      </p:sp>
      <p:sp>
        <p:nvSpPr>
          <p:cNvPr id="20" name="Text 18"/>
          <p:cNvSpPr/>
          <p:nvPr/>
        </p:nvSpPr>
        <p:spPr>
          <a:xfrm>
            <a:off x="4359860" y="2568773"/>
            <a:ext cx="3373849" cy="169763"/>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ed Hat Text" pitchFamily="34" charset="0"/>
                <a:ea typeface="Red Hat Text" pitchFamily="34" charset="-122"/>
                <a:cs typeface="Red Hat Text" pitchFamily="34" charset="-120"/>
              </a:rPr>
              <a:t>LEVEL 2 — Local network</a:t>
            </a:r>
            <a:endParaRPr lang="en-US" sz="1050" dirty="0"/>
          </a:p>
        </p:txBody>
      </p:sp>
      <p:sp>
        <p:nvSpPr>
          <p:cNvPr id="21" name="Text 19"/>
          <p:cNvSpPr/>
          <p:nvPr/>
        </p:nvSpPr>
        <p:spPr>
          <a:xfrm>
            <a:off x="4359860" y="2805311"/>
            <a:ext cx="3373849" cy="291703"/>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3B3535"/>
                </a:solidFill>
                <a:latin typeface="Roboto Light" pitchFamily="34" charset="0"/>
                <a:ea typeface="Roboto Light" pitchFamily="34" charset="-122"/>
                <a:cs typeface="Roboto Light" pitchFamily="34" charset="-120"/>
              </a:rPr>
              <a:t>Multiple organisations share availability with governed transfers and approvals.</a:t>
            </a:r>
            <a:endParaRPr lang="en-US" sz="900" dirty="0"/>
          </a:p>
        </p:txBody>
      </p:sp>
      <p:sp>
        <p:nvSpPr>
          <p:cNvPr id="22" name="Text 20"/>
          <p:cNvSpPr/>
          <p:nvPr/>
        </p:nvSpPr>
        <p:spPr>
          <a:xfrm>
            <a:off x="4359860" y="3250307"/>
            <a:ext cx="230876" cy="144264"/>
          </a:xfrm>
          <a:prstGeom prst="rect">
            <a:avLst/>
          </a:prstGeom>
          <a:noFill/>
          <a:ln/>
        </p:spPr>
        <p:txBody>
          <a:bodyPr wrap="none" lIns="0" tIns="0" rIns="0" bIns="0" rtlCol="0" anchor="ctr"/>
          <a:lstStyle/>
          <a:p>
            <a:pPr algn="l" indent="0" marL="0">
              <a:lnSpc>
                <a:spcPct val="100000"/>
              </a:lnSpc>
              <a:buNone/>
            </a:pPr>
            <a:r>
              <a:rPr lang="en-US" sz="900" dirty="0">
                <a:solidFill>
                  <a:srgbClr val="3B3535"/>
                </a:solidFill>
                <a:latin typeface="Red Hat Text Light" pitchFamily="34" charset="0"/>
                <a:ea typeface="Red Hat Text Light" pitchFamily="34" charset="-122"/>
                <a:cs typeface="Red Hat Text Light" pitchFamily="34" charset="-120"/>
              </a:rPr>
              <a:t>03</a:t>
            </a:r>
            <a:endParaRPr lang="en-US" sz="900" dirty="0"/>
          </a:p>
        </p:txBody>
      </p:sp>
      <p:sp>
        <p:nvSpPr>
          <p:cNvPr id="23" name="Shape 21"/>
          <p:cNvSpPr/>
          <p:nvPr/>
        </p:nvSpPr>
        <p:spPr>
          <a:xfrm>
            <a:off x="4359860" y="3433663"/>
            <a:ext cx="3373849" cy="12700"/>
          </a:xfrm>
          <a:prstGeom prst="rect">
            <a:avLst/>
          </a:prstGeom>
          <a:solidFill>
            <a:srgbClr val="F5A3A3"/>
          </a:solidFill>
          <a:ln/>
        </p:spPr>
      </p:sp>
      <p:sp>
        <p:nvSpPr>
          <p:cNvPr id="24" name="Text 22"/>
          <p:cNvSpPr/>
          <p:nvPr/>
        </p:nvSpPr>
        <p:spPr>
          <a:xfrm>
            <a:off x="4359860" y="3516709"/>
            <a:ext cx="3373849" cy="169763"/>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ed Hat Text" pitchFamily="34" charset="0"/>
                <a:ea typeface="Red Hat Text" pitchFamily="34" charset="-122"/>
                <a:cs typeface="Red Hat Text" pitchFamily="34" charset="-120"/>
              </a:rPr>
              <a:t>LEVEL 3 — City / Regional</a:t>
            </a:r>
            <a:endParaRPr lang="en-US" sz="1050" dirty="0"/>
          </a:p>
        </p:txBody>
      </p:sp>
      <p:sp>
        <p:nvSpPr>
          <p:cNvPr id="25" name="Text 23"/>
          <p:cNvSpPr/>
          <p:nvPr/>
        </p:nvSpPr>
        <p:spPr>
          <a:xfrm>
            <a:off x="4359860" y="3753247"/>
            <a:ext cx="3373849" cy="291703"/>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3B3535"/>
                </a:solidFill>
                <a:latin typeface="Roboto Light" pitchFamily="34" charset="0"/>
                <a:ea typeface="Roboto Light" pitchFamily="34" charset="-122"/>
                <a:cs typeface="Roboto Light" pitchFamily="34" charset="-120"/>
              </a:rPr>
              <a:t>Cross‑organisation exchange, scheduling, transfer completion and trusted partners.</a:t>
            </a:r>
            <a:endParaRPr lang="en-US" sz="900" dirty="0"/>
          </a:p>
        </p:txBody>
      </p:sp>
      <p:sp>
        <p:nvSpPr>
          <p:cNvPr id="26" name="Text 24"/>
          <p:cNvSpPr/>
          <p:nvPr/>
        </p:nvSpPr>
        <p:spPr>
          <a:xfrm>
            <a:off x="4359860" y="4206677"/>
            <a:ext cx="3373849" cy="291703"/>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3B3535"/>
                </a:solidFill>
                <a:latin typeface="Roboto Light" pitchFamily="34" charset="0"/>
                <a:ea typeface="Roboto Light" pitchFamily="34" charset="-122"/>
                <a:cs typeface="Roboto Light" pitchFamily="34" charset="-120"/>
              </a:rPr>
              <a:t>Future network capabilities: authority contact, transfer request, owner &amp; receiver approval, scheduling, transfer completion.</a:t>
            </a:r>
            <a:endParaRPr lang="en-US" sz="900" dirty="0"/>
          </a:p>
        </p:txBody>
      </p:sp>
      <p:sp>
        <p:nvSpPr>
          <p:cNvPr id="27" name="Text 25"/>
          <p:cNvSpPr/>
          <p:nvPr/>
        </p:nvSpPr>
        <p:spPr>
          <a:xfrm>
            <a:off x="8021635" y="1109464"/>
            <a:ext cx="3484575" cy="169763"/>
          </a:xfrm>
          <a:prstGeom prst="rect">
            <a:avLst/>
          </a:prstGeom>
          <a:noFill/>
          <a:ln/>
        </p:spPr>
        <p:txBody>
          <a:bodyPr wrap="none" lIns="0" tIns="0" rIns="0" bIns="0" rtlCol="0" anchor="t"/>
          <a:lstStyle/>
          <a:p>
            <a:pPr algn="l" indent="0" marL="0">
              <a:lnSpc>
                <a:spcPct val="104000"/>
              </a:lnSpc>
              <a:buNone/>
            </a:pPr>
            <a:r>
              <a:rPr lang="en-US" sz="1050" dirty="0">
                <a:solidFill>
                  <a:srgbClr val="1F1E1E"/>
                </a:solidFill>
                <a:latin typeface="Red Hat Text" pitchFamily="34" charset="0"/>
                <a:ea typeface="Red Hat Text" pitchFamily="34" charset="-122"/>
                <a:cs typeface="Red Hat Text" pitchFamily="34" charset="-120"/>
              </a:rPr>
              <a:t>SDG alignment</a:t>
            </a:r>
            <a:endParaRPr lang="en-US" sz="1050" dirty="0"/>
          </a:p>
        </p:txBody>
      </p:sp>
      <p:pic>
        <p:nvPicPr>
          <p:cNvPr id="2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021635" y="1354435"/>
            <a:ext cx="230876" cy="230882"/>
          </a:xfrm>
          <a:prstGeom prst="rect">
            <a:avLst/>
          </a:prstGeom>
        </p:spPr>
      </p:pic>
      <p:sp>
        <p:nvSpPr>
          <p:cNvPr id="29" name="Text 26"/>
          <p:cNvSpPr/>
          <p:nvPr/>
        </p:nvSpPr>
        <p:spPr>
          <a:xfrm>
            <a:off x="8336052" y="1394123"/>
            <a:ext cx="3170158" cy="169763"/>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ed Hat Text" pitchFamily="34" charset="0"/>
                <a:ea typeface="Red Hat Text" pitchFamily="34" charset="-122"/>
                <a:cs typeface="Red Hat Text" pitchFamily="34" charset="-120"/>
              </a:rPr>
              <a:t>SDG 12 — Primary</a:t>
            </a:r>
            <a:endParaRPr lang="en-US" sz="1050" dirty="0"/>
          </a:p>
        </p:txBody>
      </p:sp>
      <p:sp>
        <p:nvSpPr>
          <p:cNvPr id="30" name="Text 27"/>
          <p:cNvSpPr/>
          <p:nvPr/>
        </p:nvSpPr>
        <p:spPr>
          <a:xfrm>
            <a:off x="8336052" y="1630660"/>
            <a:ext cx="3170158" cy="437555"/>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3B3535"/>
                </a:solidFill>
                <a:latin typeface="Roboto Light" pitchFamily="34" charset="0"/>
                <a:ea typeface="Roboto Light" pitchFamily="34" charset="-122"/>
                <a:cs typeface="Roboto Light" pitchFamily="34" charset="-120"/>
              </a:rPr>
              <a:t>Responsible consumption &amp; production: Reduce unnecessary procurement, extend asset lifetimes, improve resource recovery.</a:t>
            </a:r>
            <a:endParaRPr lang="en-US" sz="900" dirty="0"/>
          </a:p>
        </p:txBody>
      </p:sp>
      <p:pic>
        <p:nvPicPr>
          <p:cNvPr id="3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21635" y="2201863"/>
            <a:ext cx="230876" cy="230882"/>
          </a:xfrm>
          <a:prstGeom prst="rect">
            <a:avLst/>
          </a:prstGeom>
        </p:spPr>
      </p:pic>
      <p:sp>
        <p:nvSpPr>
          <p:cNvPr id="32" name="Text 28"/>
          <p:cNvSpPr/>
          <p:nvPr/>
        </p:nvSpPr>
        <p:spPr>
          <a:xfrm>
            <a:off x="8336052" y="2241550"/>
            <a:ext cx="3170158" cy="169763"/>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ed Hat Text" pitchFamily="34" charset="0"/>
                <a:ea typeface="Red Hat Text" pitchFamily="34" charset="-122"/>
                <a:cs typeface="Red Hat Text" pitchFamily="34" charset="-120"/>
              </a:rPr>
              <a:t>SDG 9</a:t>
            </a:r>
            <a:endParaRPr lang="en-US" sz="1050" dirty="0"/>
          </a:p>
        </p:txBody>
      </p:sp>
      <p:sp>
        <p:nvSpPr>
          <p:cNvPr id="33" name="Text 29"/>
          <p:cNvSpPr/>
          <p:nvPr/>
        </p:nvSpPr>
        <p:spPr>
          <a:xfrm>
            <a:off x="8336052" y="2478088"/>
            <a:ext cx="3170158" cy="291703"/>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3B3535"/>
                </a:solidFill>
                <a:latin typeface="Roboto Light" pitchFamily="34" charset="0"/>
                <a:ea typeface="Roboto Light" pitchFamily="34" charset="-122"/>
                <a:cs typeface="Roboto Light" pitchFamily="34" charset="-120"/>
              </a:rPr>
              <a:t>Industry, Innovation &amp; Infrastructure: AI-enabled infrastructure and resource intelligence.</a:t>
            </a:r>
            <a:endParaRPr lang="en-US" sz="900" dirty="0"/>
          </a:p>
        </p:txBody>
      </p:sp>
      <p:pic>
        <p:nvPicPr>
          <p:cNvPr id="3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21635" y="2903438"/>
            <a:ext cx="230876" cy="230882"/>
          </a:xfrm>
          <a:prstGeom prst="rect">
            <a:avLst/>
          </a:prstGeom>
        </p:spPr>
      </p:pic>
      <p:sp>
        <p:nvSpPr>
          <p:cNvPr id="35" name="Text 30"/>
          <p:cNvSpPr/>
          <p:nvPr/>
        </p:nvSpPr>
        <p:spPr>
          <a:xfrm>
            <a:off x="8336052" y="2943126"/>
            <a:ext cx="3170158" cy="169763"/>
          </a:xfrm>
          <a:prstGeom prst="rect">
            <a:avLst/>
          </a:prstGeom>
          <a:noFill/>
          <a:ln/>
        </p:spPr>
        <p:txBody>
          <a:bodyPr wrap="none" lIns="0" tIns="0" rIns="0" bIns="0" rtlCol="0" anchor="t"/>
          <a:lstStyle/>
          <a:p>
            <a:pPr algn="l" indent="0" marL="0">
              <a:lnSpc>
                <a:spcPct val="104000"/>
              </a:lnSpc>
              <a:buNone/>
            </a:pPr>
            <a:r>
              <a:rPr lang="en-US" sz="1050" dirty="0">
                <a:solidFill>
                  <a:srgbClr val="3B3535"/>
                </a:solidFill>
                <a:latin typeface="Red Hat Text" pitchFamily="34" charset="0"/>
                <a:ea typeface="Red Hat Text" pitchFamily="34" charset="-122"/>
                <a:cs typeface="Red Hat Text" pitchFamily="34" charset="-120"/>
              </a:rPr>
              <a:t>SDG 11 &amp; 17</a:t>
            </a:r>
            <a:endParaRPr lang="en-US" sz="1050" dirty="0"/>
          </a:p>
        </p:txBody>
      </p:sp>
      <p:sp>
        <p:nvSpPr>
          <p:cNvPr id="36" name="Text 31"/>
          <p:cNvSpPr/>
          <p:nvPr/>
        </p:nvSpPr>
        <p:spPr>
          <a:xfrm>
            <a:off x="8336052" y="3179663"/>
            <a:ext cx="3170158" cy="291703"/>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3B3535"/>
                </a:solidFill>
                <a:latin typeface="Roboto Light" pitchFamily="34" charset="0"/>
                <a:ea typeface="Roboto Light" pitchFamily="34" charset="-122"/>
                <a:cs typeface="Roboto Light" pitchFamily="34" charset="-120"/>
              </a:rPr>
              <a:t>Supports sustainable cities, communities and partnerships for resource sharing.</a:t>
            </a:r>
            <a:endParaRPr lang="en-US" sz="900" dirty="0"/>
          </a:p>
        </p:txBody>
      </p:sp>
      <p:sp>
        <p:nvSpPr>
          <p:cNvPr id="37" name="Shape 32"/>
          <p:cNvSpPr/>
          <p:nvPr/>
        </p:nvSpPr>
        <p:spPr>
          <a:xfrm>
            <a:off x="698086" y="4662488"/>
            <a:ext cx="10795524" cy="12700"/>
          </a:xfrm>
          <a:prstGeom prst="roundRect">
            <a:avLst>
              <a:gd name="adj" fmla="val 49999"/>
            </a:avLst>
          </a:prstGeom>
          <a:solidFill>
            <a:srgbClr val="3B3535">
              <a:alpha val="50000"/>
            </a:srgbClr>
          </a:solidFill>
          <a:ln/>
        </p:spPr>
      </p:sp>
      <p:sp>
        <p:nvSpPr>
          <p:cNvPr id="38" name="Shape 33"/>
          <p:cNvSpPr/>
          <p:nvPr/>
        </p:nvSpPr>
        <p:spPr>
          <a:xfrm>
            <a:off x="698086" y="4779169"/>
            <a:ext cx="10795524" cy="330299"/>
          </a:xfrm>
          <a:prstGeom prst="roundRect">
            <a:avLst>
              <a:gd name="adj" fmla="val 5244"/>
            </a:avLst>
          </a:prstGeom>
          <a:solidFill>
            <a:srgbClr val="FAD1D1"/>
          </a:solidFill>
          <a:ln/>
        </p:spPr>
      </p:sp>
      <p:pic>
        <p:nvPicPr>
          <p:cNvPr id="39" name="Image 3" descr="preencoded.png">    </p:cNvPr>
          <p:cNvPicPr>
            <a:picLocks noChangeAspect="1"/>
          </p:cNvPicPr>
          <p:nvPr/>
        </p:nvPicPr>
        <p:blipFill>
          <a:blip r:embed="rId7"/>
          <a:stretch>
            <a:fillRect/>
          </a:stretch>
        </p:blipFill>
        <p:spPr>
          <a:xfrm>
            <a:off x="813474" y="4875312"/>
            <a:ext cx="144260" cy="115391"/>
          </a:xfrm>
          <a:prstGeom prst="rect">
            <a:avLst/>
          </a:prstGeom>
        </p:spPr>
      </p:pic>
      <p:sp>
        <p:nvSpPr>
          <p:cNvPr id="40" name="Text 34"/>
          <p:cNvSpPr/>
          <p:nvPr/>
        </p:nvSpPr>
        <p:spPr>
          <a:xfrm>
            <a:off x="1073123" y="4874716"/>
            <a:ext cx="10914682" cy="145852"/>
          </a:xfrm>
          <a:prstGeom prst="rect">
            <a:avLst/>
          </a:prstGeom>
          <a:noFill/>
          <a:ln/>
        </p:spPr>
        <p:txBody>
          <a:bodyPr wrap="none" lIns="0" tIns="0" rIns="0" bIns="0" rtlCol="0" anchor="t"/>
          <a:lstStyle/>
          <a:p>
            <a:pPr algn="l" indent="0" marL="0">
              <a:lnSpc>
                <a:spcPct val="105000"/>
              </a:lnSpc>
              <a:buNone/>
            </a:pPr>
            <a:r>
              <a:rPr lang="en-US" sz="900" dirty="0">
                <a:solidFill>
                  <a:srgbClr val="000000"/>
                </a:solidFill>
                <a:latin typeface="Roboto Light" pitchFamily="34" charset="0"/>
                <a:ea typeface="Roboto Light" pitchFamily="34" charset="-122"/>
                <a:cs typeface="Roboto Light" pitchFamily="34" charset="-120"/>
              </a:rPr>
              <a:t>Final statement</a:t>
            </a:r>
            <a:endParaRPr lang="en-US" sz="900" dirty="0"/>
          </a:p>
        </p:txBody>
      </p:sp>
      <p:sp>
        <p:nvSpPr>
          <p:cNvPr id="41" name="Shape 35"/>
          <p:cNvSpPr/>
          <p:nvPr/>
        </p:nvSpPr>
        <p:spPr>
          <a:xfrm>
            <a:off x="698086" y="5184676"/>
            <a:ext cx="10795524" cy="849313"/>
          </a:xfrm>
          <a:prstGeom prst="roundRect">
            <a:avLst>
              <a:gd name="adj" fmla="val 2040"/>
            </a:avLst>
          </a:prstGeom>
          <a:solidFill>
            <a:srgbClr val="FFFAFA"/>
          </a:solidFill>
          <a:ln w="12700">
            <a:solidFill>
              <a:srgbClr val="D9CECE"/>
            </a:solidFill>
            <a:prstDash val="solid"/>
          </a:ln>
        </p:spPr>
      </p:sp>
      <p:pic>
        <p:nvPicPr>
          <p:cNvPr id="42" name="Image 4" descr="preencoded.png">    </p:cNvPr>
          <p:cNvPicPr>
            <a:picLocks noChangeAspect="1"/>
          </p:cNvPicPr>
          <p:nvPr/>
        </p:nvPicPr>
        <p:blipFill>
          <a:blip r:embed="rId8"/>
          <a:stretch>
            <a:fillRect/>
          </a:stretch>
        </p:blipFill>
        <p:spPr>
          <a:xfrm>
            <a:off x="578034" y="5064621"/>
            <a:ext cx="265503" cy="265509"/>
          </a:xfrm>
          <a:prstGeom prst="rect">
            <a:avLst/>
          </a:prstGeom>
        </p:spPr>
      </p:pic>
      <p:pic>
        <p:nvPicPr>
          <p:cNvPr id="43" name="Image 5" descr="preencoded.png">    </p:cNvPr>
          <p:cNvPicPr>
            <a:picLocks noChangeAspect="1"/>
          </p:cNvPicPr>
          <p:nvPr/>
        </p:nvPicPr>
        <p:blipFill>
          <a:blip r:embed="rId9"/>
          <a:stretch>
            <a:fillRect/>
          </a:stretch>
        </p:blipFill>
        <p:spPr>
          <a:xfrm>
            <a:off x="11348158" y="5888534"/>
            <a:ext cx="265503" cy="265509"/>
          </a:xfrm>
          <a:prstGeom prst="rect">
            <a:avLst/>
          </a:prstGeom>
        </p:spPr>
      </p:pic>
      <p:sp>
        <p:nvSpPr>
          <p:cNvPr id="44" name="Text 36"/>
          <p:cNvSpPr/>
          <p:nvPr/>
        </p:nvSpPr>
        <p:spPr>
          <a:xfrm>
            <a:off x="883918" y="5370513"/>
            <a:ext cx="10423860" cy="477639"/>
          </a:xfrm>
          <a:prstGeom prst="rect">
            <a:avLst/>
          </a:prstGeom>
          <a:noFill/>
          <a:ln/>
        </p:spPr>
        <p:txBody>
          <a:bodyPr wrap="square" lIns="0" tIns="0" rIns="0" bIns="0" rtlCol="0" anchor="t">
            <a:normAutofit/>
          </a:bodyPr>
          <a:lstStyle/>
          <a:p>
            <a:pPr algn="l" indent="0" marL="0">
              <a:lnSpc>
                <a:spcPct val="105000"/>
              </a:lnSpc>
              <a:spcAft>
                <a:spcPts val="300"/>
              </a:spcAft>
              <a:buNone/>
            </a:pPr>
            <a:r>
              <a:rPr lang="en-US" sz="900" b="1" dirty="0">
                <a:solidFill>
                  <a:srgbClr val="3B3535"/>
                </a:solidFill>
                <a:latin typeface="Roboto Bold" pitchFamily="34" charset="0"/>
                <a:ea typeface="Roboto Bold" pitchFamily="34" charset="-122"/>
                <a:cs typeface="Roboto Bold" pitchFamily="34" charset="-120"/>
              </a:rPr>
              <a:t>ResourceLoop does not simply track what an organisation owns. It adds an intelligence layer that asks what can be reused, where it is, whether it can solve another requirement, and what should happen to it next.</a:t>
            </a:r>
            <a:endParaRPr lang="en-US" sz="900" dirty="0"/>
          </a:p>
          <a:p>
            <a:pPr algn="l" indent="0" marL="0">
              <a:lnSpc>
                <a:spcPct val="105000"/>
              </a:lnSpc>
              <a:buNone/>
            </a:pPr>
            <a:r>
              <a:rPr lang="en-US" sz="900" i="1" dirty="0">
                <a:solidFill>
                  <a:srgbClr val="3B3535"/>
                </a:solidFill>
                <a:latin typeface="Roboto Light" pitchFamily="34" charset="0"/>
                <a:ea typeface="Roboto Light" pitchFamily="34" charset="-122"/>
                <a:cs typeface="Roboto Light" pitchFamily="34" charset="-120"/>
              </a:rPr>
              <a:t>Find what already exists. Use it intelligently. Give everything a better next life.</a:t>
            </a:r>
            <a:endParaRPr lang="en-US" sz="900" dirty="0"/>
          </a:p>
        </p:txBody>
      </p:sp>
      <p:sp>
        <p:nvSpPr>
          <p:cNvPr id="45" name="Text 37"/>
          <p:cNvSpPr/>
          <p:nvPr/>
        </p:nvSpPr>
        <p:spPr>
          <a:xfrm>
            <a:off x="698086" y="6109196"/>
            <a:ext cx="11405108" cy="145852"/>
          </a:xfrm>
          <a:prstGeom prst="rect">
            <a:avLst/>
          </a:prstGeom>
          <a:noFill/>
          <a:ln/>
        </p:spPr>
        <p:txBody>
          <a:bodyPr wrap="none" lIns="0" tIns="0" rIns="0" bIns="0" rtlCol="0" anchor="t"/>
          <a:lstStyle/>
          <a:p>
            <a:pPr algn="l" indent="0" marL="0">
              <a:lnSpc>
                <a:spcPct val="105000"/>
              </a:lnSpc>
              <a:buNone/>
            </a:pPr>
            <a:r>
              <a:rPr lang="en-US" sz="900" dirty="0">
                <a:solidFill>
                  <a:srgbClr val="3B3535"/>
                </a:solidFill>
                <a:latin typeface="Roboto Light" pitchFamily="34" charset="0"/>
                <a:ea typeface="Roboto Light" pitchFamily="34" charset="-122"/>
                <a:cs typeface="Roboto Light" pitchFamily="34" charset="-120"/>
              </a:rPr>
              <a:t>Sources: UNEP — Global Resources Outlook 2024; ITU / UNITAR — Global E‑waste Monitor 2024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98086" y="1308100"/>
            <a:ext cx="10795524" cy="586680"/>
          </a:xfrm>
          <a:prstGeom prst="rect">
            <a:avLst/>
          </a:prstGeom>
          <a:noFill/>
          <a:ln/>
        </p:spPr>
        <p:txBody>
          <a:bodyPr wrap="none" lIns="0" tIns="0" rIns="0" bIns="0" rtlCol="0" anchor="t"/>
          <a:lstStyle/>
          <a:p>
            <a:pPr algn="ctr" indent="0" marL="0">
              <a:lnSpc>
                <a:spcPct val="104000"/>
              </a:lnSpc>
              <a:buNone/>
            </a:pPr>
            <a:r>
              <a:rPr lang="en-US" sz="3650" dirty="0">
                <a:solidFill>
                  <a:srgbClr val="1F1E1E"/>
                </a:solidFill>
                <a:latin typeface="Red Hat Text" pitchFamily="34" charset="0"/>
                <a:ea typeface="Red Hat Text" pitchFamily="34" charset="-122"/>
                <a:cs typeface="Red Hat Text" pitchFamily="34" charset="-120"/>
              </a:rPr>
              <a:t>Thank You</a:t>
            </a:r>
            <a:endParaRPr lang="en-US" sz="3650" dirty="0"/>
          </a:p>
        </p:txBody>
      </p:sp>
      <p:sp>
        <p:nvSpPr>
          <p:cNvPr id="3" name="Text 1"/>
          <p:cNvSpPr/>
          <p:nvPr/>
        </p:nvSpPr>
        <p:spPr>
          <a:xfrm>
            <a:off x="698086" y="2193925"/>
            <a:ext cx="10795524" cy="862707"/>
          </a:xfrm>
          <a:prstGeom prst="rect">
            <a:avLst/>
          </a:prstGeom>
          <a:noFill/>
          <a:ln/>
        </p:spPr>
        <p:txBody>
          <a:bodyPr wrap="square" lIns="0" tIns="0" rIns="0" bIns="0" rtlCol="0" anchor="t"/>
          <a:lstStyle/>
          <a:p>
            <a:pPr algn="ctr" indent="0" marL="0">
              <a:lnSpc>
                <a:spcPct val="133000"/>
              </a:lnSpc>
              <a:spcAft>
                <a:spcPts val="1750"/>
              </a:spcAft>
              <a:buNone/>
            </a:pPr>
            <a:r>
              <a:rPr lang="en-US" sz="1550" dirty="0">
                <a:solidFill>
                  <a:srgbClr val="3B3535"/>
                </a:solidFill>
                <a:latin typeface="Roboto Light" pitchFamily="34" charset="0"/>
                <a:ea typeface="Roboto Light" pitchFamily="34" charset="-122"/>
                <a:cs typeface="Roboto Light" pitchFamily="34" charset="-120"/>
              </a:rPr>
              <a:t>Miloni Mohanty</a:t>
            </a:r>
            <a:endParaRPr lang="en-US" sz="1550" dirty="0"/>
          </a:p>
          <a:p>
            <a:pPr algn="ctr" indent="0" marL="0">
              <a:lnSpc>
                <a:spcPct val="133000"/>
              </a:lnSpc>
              <a:buNone/>
            </a:pPr>
            <a:r>
              <a:rPr lang="en-US" sz="1550" dirty="0">
                <a:solidFill>
                  <a:srgbClr val="3B3535"/>
                </a:solidFill>
                <a:latin typeface="Roboto Light" pitchFamily="34" charset="0"/>
                <a:ea typeface="Roboto Light" pitchFamily="34" charset="-122"/>
                <a:cs typeface="Roboto Light" pitchFamily="34" charset="-120"/>
              </a:rPr>
              <a:t>B.Tech CSE | ITER, Bhubaneswar</a:t>
            </a:r>
            <a:endParaRPr lang="en-US" sz="1550" dirty="0"/>
          </a:p>
        </p:txBody>
      </p:sp>
      <p:sp>
        <p:nvSpPr>
          <p:cNvPr id="4" name="Text 2"/>
          <p:cNvSpPr/>
          <p:nvPr/>
        </p:nvSpPr>
        <p:spPr>
          <a:xfrm>
            <a:off x="698086" y="3280966"/>
            <a:ext cx="10795524" cy="638373"/>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3B3535"/>
                </a:solidFill>
                <a:latin typeface="Roboto Light" pitchFamily="34" charset="0"/>
                <a:ea typeface="Roboto Light" pitchFamily="34" charset="-122"/>
                <a:cs typeface="Roboto Light" pitchFamily="34" charset="-120"/>
              </a:rPr>
              <a:t>     </a:t>
            </a:r>
            <a:endParaRPr lang="en-US" sz="1550" dirty="0"/>
          </a:p>
        </p:txBody>
      </p:sp>
      <p:sp>
        <p:nvSpPr>
          <p:cNvPr id="5" name="Text 3"/>
          <p:cNvSpPr/>
          <p:nvPr/>
        </p:nvSpPr>
        <p:spPr>
          <a:xfrm>
            <a:off x="698086" y="4143673"/>
            <a:ext cx="10795524" cy="1406227"/>
          </a:xfrm>
          <a:prstGeom prst="rect">
            <a:avLst/>
          </a:prstGeom>
          <a:noFill/>
          <a:ln/>
        </p:spPr>
        <p:txBody>
          <a:bodyPr wrap="square" lIns="0" tIns="0" rIns="0" bIns="0" rtlCol="0" anchor="t"/>
          <a:lstStyle/>
          <a:p>
            <a:pPr algn="ctr" indent="0" marL="0">
              <a:lnSpc>
                <a:spcPct val="133000"/>
              </a:lnSpc>
              <a:spcAft>
                <a:spcPts val="1750"/>
              </a:spcAft>
              <a:buNone/>
            </a:pPr>
            <a:r>
              <a:rPr lang="en-US" sz="1550" b="1" dirty="0">
                <a:solidFill>
                  <a:srgbClr val="3B3535"/>
                </a:solidFill>
                <a:latin typeface="Roboto Bold" pitchFamily="34" charset="0"/>
                <a:ea typeface="Roboto Bold" pitchFamily="34" charset="-122"/>
                <a:cs typeface="Roboto Bold" pitchFamily="34" charset="-120"/>
              </a:rPr>
              <a:t>ResourceLoop AI</a:t>
            </a:r>
            <a:endParaRPr lang="en-US" sz="1550" dirty="0"/>
          </a:p>
          <a:p>
            <a:pPr algn="ctr" indent="0" marL="0">
              <a:lnSpc>
                <a:spcPct val="133000"/>
              </a:lnSpc>
              <a:spcAft>
                <a:spcPts val="1750"/>
              </a:spcAft>
              <a:buNone/>
            </a:pPr>
            <a:r>
              <a:rPr lang="en-US" sz="1550" dirty="0">
                <a:solidFill>
                  <a:srgbClr val="3B3535"/>
                </a:solidFill>
                <a:latin typeface="Roboto Light" pitchFamily="34" charset="0"/>
                <a:ea typeface="Roboto Light" pitchFamily="34" charset="-122"/>
                <a:cs typeface="Roboto Light" pitchFamily="34" charset="-120"/>
              </a:rPr>
              <a:t>AI-Powered Circular Resource Matching &amp; Policy Intelligence</a:t>
            </a:r>
            <a:endParaRPr lang="en-US" sz="1550" dirty="0"/>
          </a:p>
          <a:p>
            <a:pPr algn="ctr" indent="0" marL="0">
              <a:lnSpc>
                <a:spcPct val="133000"/>
              </a:lnSpc>
              <a:buNone/>
            </a:pPr>
            <a:r>
              <a:rPr lang="en-US" sz="1550" dirty="0">
                <a:solidFill>
                  <a:srgbClr val="3B3535"/>
                </a:solidFill>
                <a:latin typeface="Roboto Light" pitchFamily="34" charset="0"/>
                <a:ea typeface="Roboto Light" pitchFamily="34" charset="-122"/>
                <a:cs typeface="Roboto Light" pitchFamily="34" charset="-120"/>
              </a:rPr>
              <a:t>Find what already exists. Use it intelligently. Give everything a better next life.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2026-09-20T16:36:40Z</dcterms:created>
  <dcterms:modified xsi:type="dcterms:W3CDTF">2026-09-20T16:36:40Z</dcterms:modified>
</cp:coreProperties>
</file>